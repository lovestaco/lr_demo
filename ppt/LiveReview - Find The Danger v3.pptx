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19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bec604cbd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fbec604cbd_1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he95dd79bc7ebba1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he95dd79bc7ebba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685800" y="1026207"/>
            <a:ext cx="10607100" cy="12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sng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Blast-Radius Aware</a:t>
            </a:r>
            <a:r>
              <a:rPr b="1" i="0" lang="en-US" sz="40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AI Code Review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40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b="1" i="0" lang="en-US" sz="4000" u="sng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Business-Critical Systems</a:t>
            </a:r>
            <a:r>
              <a:rPr b="1" i="0" lang="en-US" sz="40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685800" y="2788920"/>
            <a:ext cx="69495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Your team's attention is limited. Spend review effort where </a:t>
            </a:r>
            <a:r>
              <a:rPr b="1" i="0"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business risk is highest</a:t>
            </a:r>
            <a:r>
              <a:rPr b="0" i="0" lang="en-US" sz="15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>
                <a:solidFill>
                  <a:srgbClr val="4B5563"/>
                </a:solidFill>
              </a:rPr>
              <a:t>-</a:t>
            </a:r>
            <a:r>
              <a:rPr b="0" i="0" lang="en-US" sz="15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not spread evenly across every diff.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685800" y="3794760"/>
            <a:ext cx="7360920" cy="1051560"/>
          </a:xfrm>
          <a:prstGeom prst="roundRect">
            <a:avLst>
              <a:gd fmla="val 4500" name="adj"/>
            </a:avLst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768096" y="3877056"/>
            <a:ext cx="3598164" cy="88696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4366260" y="3877056"/>
            <a:ext cx="3598164" cy="88696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685800" y="3794760"/>
            <a:ext cx="7360920" cy="1051560"/>
          </a:xfrm>
          <a:prstGeom prst="roundRect">
            <a:avLst>
              <a:gd fmla="val 4500" name="adj"/>
            </a:avLst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13"/>
          <p:cNvCxnSpPr/>
          <p:nvPr/>
        </p:nvCxnSpPr>
        <p:spPr>
          <a:xfrm>
            <a:off x="4366260" y="3886200"/>
            <a:ext cx="0" cy="86868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91" name="Google Shape;91;p13"/>
          <p:cNvSpPr/>
          <p:nvPr/>
        </p:nvSpPr>
        <p:spPr>
          <a:xfrm>
            <a:off x="4174236" y="4128516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vs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978408" y="3931920"/>
            <a:ext cx="3113532" cy="822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300</a:t>
            </a:r>
            <a:r>
              <a:rPr b="1" i="0" lang="en-US" sz="9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LINE UI TWEAK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Breaks one page.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4658868" y="3931920"/>
            <a:ext cx="3159252" cy="822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US" sz="90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  LINE DB CHANGE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Breaks the entire app.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85800" y="5166360"/>
            <a:ext cx="7360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Not all diffs are created equal — so we score and sort every piece of a diff by its </a:t>
            </a:r>
            <a:r>
              <a:rPr b="1" i="0" lang="en-US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blast radius</a:t>
            </a:r>
            <a:r>
              <a:rPr b="0" i="0" lang="en-US" sz="13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384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914400" y="429768"/>
            <a:ext cx="2011680" cy="297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LiveReview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11815" y="931962"/>
            <a:ext cx="11058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AI lets your team produce more code than it can inspect.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67003" y="1830494"/>
            <a:ext cx="11058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So which changes deserve your engineers' scarce attention?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649115" y="2759240"/>
            <a:ext cx="11058000" cy="1414200"/>
          </a:xfrm>
          <a:prstGeom prst="roundRect">
            <a:avLst>
              <a:gd fmla="val 6465" name="adj"/>
            </a:avLst>
          </a:prstGeom>
          <a:solidFill>
            <a:srgbClr val="EEF3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014875" y="3243897"/>
            <a:ext cx="103266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LiveReview ranks every hunk by blast radius and review priority.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384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914400" y="429768"/>
            <a:ext cx="2011680" cy="297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LiveReview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04275" y="938025"/>
            <a:ext cx="8126400" cy="12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Blast radius tells you</a:t>
            </a:r>
            <a:r>
              <a:rPr lang="en-US"/>
              <a:t> </a:t>
            </a:r>
            <a:r>
              <a:rPr b="1" lang="en-US" sz="26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what to read first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04278" y="1832897"/>
            <a:ext cx="3310200" cy="8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Each hunk is scored from measurable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signals, so the riskiest change sits at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the top of the review.</a:t>
            </a:r>
            <a:endParaRPr/>
          </a:p>
        </p:txBody>
      </p:sp>
      <p:pic>
        <p:nvPicPr>
          <p:cNvPr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28475" y="1832899"/>
            <a:ext cx="7737624" cy="3812399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/>
          <p:nvPr/>
        </p:nvSpPr>
        <p:spPr>
          <a:xfrm>
            <a:off x="656569" y="3268734"/>
            <a:ext cx="91500" cy="91500"/>
          </a:xfrm>
          <a:prstGeom prst="ellipse">
            <a:avLst/>
          </a:prstGeom>
          <a:solidFill>
            <a:srgbClr val="1D56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917172" y="3195582"/>
            <a:ext cx="30357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11827"/>
                </a:solidFill>
              </a:rPr>
              <a:t>Visualize blast radius at a glance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656569" y="3968885"/>
            <a:ext cx="91500" cy="91500"/>
          </a:xfrm>
          <a:prstGeom prst="ellipse">
            <a:avLst/>
          </a:prstGeom>
          <a:solidFill>
            <a:srgbClr val="1D56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917172" y="3895733"/>
            <a:ext cx="30357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11827"/>
                </a:solidFill>
              </a:rPr>
              <a:t>Every factor that feeds the score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656569" y="4669036"/>
            <a:ext cx="91500" cy="91500"/>
          </a:xfrm>
          <a:prstGeom prst="ellipse">
            <a:avLst/>
          </a:prstGeom>
          <a:solidFill>
            <a:srgbClr val="1D56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917172" y="4595884"/>
            <a:ext cx="30357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11827"/>
                </a:solidFill>
              </a:rPr>
              <a:t>Understand the exact math behind the score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384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914400" y="429768"/>
            <a:ext cx="2011680" cy="297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LiveReview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566928" y="954387"/>
            <a:ext cx="11058000" cy="10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standard is useless when every engineer must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remember to enforce it.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66928" y="2753529"/>
            <a:ext cx="110580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How do you make good review happen every time without slowing the team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down?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492203" y="4565710"/>
            <a:ext cx="11058000" cy="1749600"/>
          </a:xfrm>
          <a:prstGeom prst="roundRect">
            <a:avLst>
              <a:gd fmla="val 5226" name="adj"/>
            </a:avLst>
          </a:prstGeom>
          <a:solidFill>
            <a:srgbClr val="EEF3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992438" y="4980117"/>
            <a:ext cx="103266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LiveReview reviews at commit, push, PR, CI/CD, </a:t>
            </a:r>
            <a:endParaRPr b="1" sz="2200">
              <a:solidFill>
                <a:srgbClr val="11182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and on schedule, enforcing your rules.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384048"/>
            <a:ext cx="274319" cy="274319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914400" y="429768"/>
            <a:ext cx="2011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LiveReview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566926" y="919950"/>
            <a:ext cx="7267200" cy="8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rgbClr val="111827"/>
                </a:solidFill>
              </a:rPr>
              <a:t>Pick the Right Review Depth Based on Your Need for Shipping Speed</a:t>
            </a:r>
            <a:endParaRPr b="1" sz="2600">
              <a:solidFill>
                <a:srgbClr val="11182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600">
              <a:solidFill>
                <a:srgbClr val="111827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111827"/>
              </a:solidFill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529544" y="3276209"/>
            <a:ext cx="91500" cy="91500"/>
          </a:xfrm>
          <a:prstGeom prst="ellipse">
            <a:avLst/>
          </a:prstGeom>
          <a:solidFill>
            <a:srgbClr val="1D56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790150" y="3203050"/>
            <a:ext cx="49659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500">
                <a:solidFill>
                  <a:srgbClr val="111827"/>
                </a:solidFill>
              </a:rPr>
              <a:t>Pre Commit Only: local review, fastest, lightest net.</a:t>
            </a:r>
            <a:endParaRPr b="1" sz="1500">
              <a:solidFill>
                <a:srgbClr val="111827"/>
              </a:solidFill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529544" y="3976360"/>
            <a:ext cx="91500" cy="91500"/>
          </a:xfrm>
          <a:prstGeom prst="ellipse">
            <a:avLst/>
          </a:prstGeom>
          <a:solidFill>
            <a:srgbClr val="1D56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790150" y="3903200"/>
            <a:ext cx="79473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11827"/>
                </a:solidFill>
              </a:rPr>
              <a:t>Commit + Scheduled: the startup pick. A daily sweep that catches anything that slipped past commit-time checks.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29544" y="4676511"/>
            <a:ext cx="91500" cy="91500"/>
          </a:xfrm>
          <a:prstGeom prst="ellipse">
            <a:avLst/>
          </a:prstGeom>
          <a:solidFill>
            <a:srgbClr val="1D56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790155" y="4603350"/>
            <a:ext cx="79968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500">
                <a:solidFill>
                  <a:srgbClr val="111827"/>
                </a:solidFill>
              </a:rPr>
              <a:t>Commit + Before Push + MR/PR: the standard team flow. A human sees every change before it merges.</a:t>
            </a:r>
            <a:endParaRPr b="1" sz="1500">
              <a:solidFill>
                <a:srgbClr val="111827"/>
              </a:solidFill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566919" y="5376659"/>
            <a:ext cx="91500" cy="91500"/>
          </a:xfrm>
          <a:prstGeom prst="ellipse">
            <a:avLst/>
          </a:prstGeom>
          <a:solidFill>
            <a:srgbClr val="1D56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827525" y="5303500"/>
            <a:ext cx="72672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111827"/>
                </a:solidFill>
              </a:rPr>
              <a:t>All Five (Full Harness): maximum coverage, for repos where a bad change is expensive: payments, auth, core infra.</a:t>
            </a:r>
            <a:endParaRPr b="1" sz="1500">
              <a:solidFill>
                <a:srgbClr val="111827"/>
              </a:solidFill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rgbClr val="111827"/>
              </a:solidFill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5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.png" id="150" name="Google Shape;1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384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914400" y="429768"/>
            <a:ext cx="2011680" cy="297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LiveReview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566915" y="921192"/>
            <a:ext cx="110580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gate your pipeline can call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566925" y="1835375"/>
            <a:ext cx="2628000" cy="16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Write a jq rule over a review's findings, save it, and call one URL from any CI/CD pipeline to block or allow the build.</a:t>
            </a:r>
            <a:endParaRPr/>
          </a:p>
        </p:txBody>
      </p:sp>
      <p:pic>
        <p:nvPicPr>
          <p:cNvPr id="154" name="Google Shape;15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50400" y="1835382"/>
            <a:ext cx="8503469" cy="4189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159" name="Google Shape;15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384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>
            <a:off x="914400" y="429768"/>
            <a:ext cx="2011680" cy="297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LiveReview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566915" y="917980"/>
            <a:ext cx="110580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review reads like a </a:t>
            </a:r>
            <a:r>
              <a:rPr b="1" lang="en-US" sz="2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briefing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529550" y="1835919"/>
            <a:ext cx="11058000" cy="5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74151"/>
                </a:solidFill>
              </a:rPr>
              <a:t>LiveReview helps you to know what was implemented, </a:t>
            </a:r>
            <a:endParaRPr sz="1500">
              <a:solidFill>
                <a:srgbClr val="37415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74151"/>
                </a:solidFill>
              </a:rPr>
              <a:t>why, and what risks were flagged </a:t>
            </a:r>
            <a:endParaRPr sz="1500">
              <a:solidFill>
                <a:srgbClr val="37415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74151"/>
                </a:solidFill>
              </a:rPr>
              <a:t>in the form of slides, not a wall of diff.</a:t>
            </a:r>
            <a:endParaRPr/>
          </a:p>
        </p:txBody>
      </p:sp>
      <p:pic>
        <p:nvPicPr>
          <p:cNvPr id="163" name="Google Shape;16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6650" y="2263944"/>
            <a:ext cx="5448645" cy="415778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/>
          <p:nvPr/>
        </p:nvSpPr>
        <p:spPr>
          <a:xfrm>
            <a:off x="529544" y="3276209"/>
            <a:ext cx="91500" cy="91500"/>
          </a:xfrm>
          <a:prstGeom prst="ellipse">
            <a:avLst/>
          </a:prstGeom>
          <a:solidFill>
            <a:srgbClr val="1D56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790147" y="3203057"/>
            <a:ext cx="30357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500">
                <a:solidFill>
                  <a:srgbClr val="111827"/>
                </a:solidFill>
              </a:rPr>
              <a:t>60-second slide summary</a:t>
            </a:r>
            <a:endParaRPr b="1" sz="1500">
              <a:solidFill>
                <a:srgbClr val="111827"/>
              </a:solidFill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529544" y="3976360"/>
            <a:ext cx="91500" cy="91500"/>
          </a:xfrm>
          <a:prstGeom prst="ellipse">
            <a:avLst/>
          </a:prstGeom>
          <a:solidFill>
            <a:srgbClr val="1D56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790150" y="3903200"/>
            <a:ext cx="34656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11827"/>
                </a:solidFill>
              </a:rPr>
              <a:t>Ready to copy-paste PR summary</a:t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529544" y="4676511"/>
            <a:ext cx="91500" cy="91500"/>
          </a:xfrm>
          <a:prstGeom prst="ellipse">
            <a:avLst/>
          </a:prstGeom>
          <a:solidFill>
            <a:srgbClr val="1D56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790147" y="4603359"/>
            <a:ext cx="30357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11827"/>
                </a:solidFill>
              </a:rPr>
              <a:t>Quiz on the diff to reinforce understanding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384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914400" y="429768"/>
            <a:ext cx="2011680" cy="297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LiveReview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566978" y="931962"/>
            <a:ext cx="11058000" cy="15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Other reviewers send your code outside your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infrastructure, and seat-based monthly pricing can get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expensive.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529565" y="3191239"/>
            <a:ext cx="11058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Keep your code in your infrastructure and choose which AI models inspect it.</a:t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566965" y="4573185"/>
            <a:ext cx="11058000" cy="1749600"/>
          </a:xfrm>
          <a:prstGeom prst="roundRect">
            <a:avLst>
              <a:gd fmla="val 5226" name="adj"/>
            </a:avLst>
          </a:prstGeom>
          <a:solidFill>
            <a:srgbClr val="EEF3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932725" y="5057805"/>
            <a:ext cx="103266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Adaptive Reviews cut AI cost; Livi learns from reviews; CLI, IDE, MCP and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API fit your workflow.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.png" id="189" name="Google Shape;18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384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2"/>
          <p:cNvSpPr txBox="1"/>
          <p:nvPr/>
        </p:nvSpPr>
        <p:spPr>
          <a:xfrm>
            <a:off x="914400" y="429768"/>
            <a:ext cx="2011680" cy="297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LiveReview</a:t>
            </a:r>
            <a:endParaRPr/>
          </a:p>
        </p:txBody>
      </p:sp>
      <p:sp>
        <p:nvSpPr>
          <p:cNvPr id="191" name="Google Shape;191;p22"/>
          <p:cNvSpPr txBox="1"/>
          <p:nvPr/>
        </p:nvSpPr>
        <p:spPr>
          <a:xfrm>
            <a:off x="566928" y="921192"/>
            <a:ext cx="110580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1827"/>
                </a:solidFill>
              </a:rPr>
              <a:t>Navigate Easily to Anywhere with simple shortcut (ctrl + k)</a:t>
            </a:r>
            <a:endParaRPr/>
          </a:p>
        </p:txBody>
      </p:sp>
      <p:sp>
        <p:nvSpPr>
          <p:cNvPr id="192" name="Google Shape;192;p22"/>
          <p:cNvSpPr txBox="1"/>
          <p:nvPr/>
        </p:nvSpPr>
        <p:spPr>
          <a:xfrm>
            <a:off x="566928" y="1634236"/>
            <a:ext cx="11058113" cy="357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Reviews, Explore </a:t>
            </a:r>
            <a:r>
              <a:rPr lang="en-US" sz="1500">
                <a:solidFill>
                  <a:srgbClr val="374151"/>
                </a:solidFill>
              </a:rPr>
              <a:t>MR and Repositories</a:t>
            </a:r>
            <a:r>
              <a:rPr b="0" lang="en-US" sz="15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b="0" sz="150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74151"/>
                </a:solidFill>
              </a:rPr>
              <a:t>AI &amp; Git </a:t>
            </a:r>
            <a:r>
              <a:rPr b="0" lang="en-US" sz="15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Providers, </a:t>
            </a:r>
            <a:endParaRPr b="0" sz="150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Reports and Settings </a:t>
            </a:r>
            <a:endParaRPr/>
          </a:p>
        </p:txBody>
      </p:sp>
      <p:pic>
        <p:nvPicPr>
          <p:cNvPr id="193" name="Google Shape;19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00375" y="1678376"/>
            <a:ext cx="7868026" cy="387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198" name="Google Shape;19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384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3"/>
          <p:cNvSpPr txBox="1"/>
          <p:nvPr/>
        </p:nvSpPr>
        <p:spPr>
          <a:xfrm>
            <a:off x="914400" y="429768"/>
            <a:ext cx="2011680" cy="297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LiveReview</a:t>
            </a:r>
            <a:endParaRPr/>
          </a:p>
        </p:txBody>
      </p:sp>
      <p:sp>
        <p:nvSpPr>
          <p:cNvPr id="200" name="Google Shape;200;p23"/>
          <p:cNvSpPr txBox="1"/>
          <p:nvPr/>
        </p:nvSpPr>
        <p:spPr>
          <a:xfrm>
            <a:off x="566928" y="921192"/>
            <a:ext cx="110580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1827"/>
                </a:solidFill>
              </a:rPr>
              <a:t>An AI chatbot for your engineering data</a:t>
            </a:r>
            <a:endParaRPr/>
          </a:p>
        </p:txBody>
      </p:sp>
      <p:sp>
        <p:nvSpPr>
          <p:cNvPr id="201" name="Google Shape;201;p23"/>
          <p:cNvSpPr txBox="1"/>
          <p:nvPr/>
        </p:nvSpPr>
        <p:spPr>
          <a:xfrm>
            <a:off x="566925" y="1634140"/>
            <a:ext cx="11058000" cy="3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500">
                <a:solidFill>
                  <a:srgbClr val="374151"/>
                </a:solidFill>
              </a:rPr>
              <a:t>Ask Livi a product, engineering, </a:t>
            </a:r>
            <a:endParaRPr sz="1500"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500">
                <a:solidFill>
                  <a:srgbClr val="374151"/>
                </a:solidFill>
              </a:rPr>
              <a:t>or ops question in plain English. </a:t>
            </a:r>
            <a:endParaRPr sz="1500"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500">
                <a:solidFill>
                  <a:srgbClr val="374151"/>
                </a:solidFill>
              </a:rPr>
              <a:t>It answers with a chart pulled straight </a:t>
            </a:r>
            <a:endParaRPr sz="1500"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500">
                <a:solidFill>
                  <a:srgbClr val="374151"/>
                </a:solidFill>
              </a:rPr>
              <a:t>from your organization's own data, </a:t>
            </a:r>
            <a:endParaRPr sz="1500"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374151"/>
                </a:solidFill>
              </a:rPr>
              <a:t>no dashboards to build, no SQL to write.</a:t>
            </a:r>
            <a:endParaRPr sz="1500"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37415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74151"/>
              </a:solidFill>
            </a:endParaRPr>
          </a:p>
        </p:txBody>
      </p:sp>
      <p:pic>
        <p:nvPicPr>
          <p:cNvPr id="202" name="Google Shape;20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0300" y="1634225"/>
            <a:ext cx="6898651" cy="3844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207" name="Google Shape;20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384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 txBox="1"/>
          <p:nvPr/>
        </p:nvSpPr>
        <p:spPr>
          <a:xfrm>
            <a:off x="914400" y="429768"/>
            <a:ext cx="2011680" cy="297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LiveReview</a:t>
            </a:r>
            <a:endParaRPr/>
          </a:p>
        </p:txBody>
      </p:sp>
      <p:sp>
        <p:nvSpPr>
          <p:cNvPr id="209" name="Google Shape;209;p24"/>
          <p:cNvSpPr txBox="1"/>
          <p:nvPr/>
        </p:nvSpPr>
        <p:spPr>
          <a:xfrm>
            <a:off x="580651" y="903000"/>
            <a:ext cx="9418800" cy="8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11827"/>
                </a:solidFill>
              </a:rPr>
              <a:t>Visualize</a:t>
            </a:r>
            <a:r>
              <a:rPr b="1" lang="en-US" sz="2600">
                <a:solidFill>
                  <a:srgbClr val="111827"/>
                </a:solidFill>
              </a:rPr>
              <a:t> Adoption, Growth, Review Quality, Cost and Engagement with 50+ Graphs</a:t>
            </a:r>
            <a:endParaRPr/>
          </a:p>
        </p:txBody>
      </p:sp>
      <p:sp>
        <p:nvSpPr>
          <p:cNvPr id="210" name="Google Shape;210;p24"/>
          <p:cNvSpPr txBox="1"/>
          <p:nvPr/>
        </p:nvSpPr>
        <p:spPr>
          <a:xfrm>
            <a:off x="611753" y="2190460"/>
            <a:ext cx="3310200" cy="8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 generated report on how your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organisation actually adopted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LiveReview.</a:t>
            </a:r>
            <a:endParaRPr/>
          </a:p>
        </p:txBody>
      </p:sp>
      <p:pic>
        <p:nvPicPr>
          <p:cNvPr id="211" name="Google Shape;21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2544" y="1948285"/>
            <a:ext cx="7272497" cy="3583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216" name="Google Shape;21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384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5"/>
          <p:cNvSpPr txBox="1"/>
          <p:nvPr/>
        </p:nvSpPr>
        <p:spPr>
          <a:xfrm>
            <a:off x="914400" y="429768"/>
            <a:ext cx="2011680" cy="297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LiveReview</a:t>
            </a:r>
            <a:endParaRPr/>
          </a:p>
        </p:txBody>
      </p:sp>
      <p:sp>
        <p:nvSpPr>
          <p:cNvPr id="218" name="Google Shape;218;p25"/>
          <p:cNvSpPr txBox="1"/>
          <p:nvPr/>
        </p:nvSpPr>
        <p:spPr>
          <a:xfrm>
            <a:off x="604278" y="914110"/>
            <a:ext cx="105156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Three problems. One reviewer.</a:t>
            </a:r>
            <a:endParaRPr/>
          </a:p>
        </p:txBody>
      </p:sp>
      <p:sp>
        <p:nvSpPr>
          <p:cNvPr id="219" name="Google Shape;219;p25"/>
          <p:cNvSpPr/>
          <p:nvPr/>
        </p:nvSpPr>
        <p:spPr>
          <a:xfrm>
            <a:off x="566928" y="1833880"/>
            <a:ext cx="3441900" cy="2143200"/>
          </a:xfrm>
          <a:prstGeom prst="roundRect">
            <a:avLst>
              <a:gd fmla="val 4266" name="adj"/>
            </a:avLst>
          </a:prstGeom>
          <a:solidFill>
            <a:srgbClr val="F4F6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5"/>
          <p:cNvSpPr txBox="1"/>
          <p:nvPr/>
        </p:nvSpPr>
        <p:spPr>
          <a:xfrm>
            <a:off x="896112" y="2144776"/>
            <a:ext cx="9144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D56F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221" name="Google Shape;221;p25"/>
          <p:cNvSpPr txBox="1"/>
          <p:nvPr/>
        </p:nvSpPr>
        <p:spPr>
          <a:xfrm>
            <a:off x="896112" y="2437384"/>
            <a:ext cx="27834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11827"/>
                </a:solidFill>
              </a:rPr>
              <a:t>Capability</a:t>
            </a:r>
            <a:endParaRPr/>
          </a:p>
        </p:txBody>
      </p:sp>
      <p:sp>
        <p:nvSpPr>
          <p:cNvPr id="222" name="Google Shape;222;p25"/>
          <p:cNvSpPr txBox="1"/>
          <p:nvPr/>
        </p:nvSpPr>
        <p:spPr>
          <a:xfrm>
            <a:off x="896112" y="2839720"/>
            <a:ext cx="27834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74151"/>
                </a:solidFill>
              </a:rPr>
              <a:t>Blast-radius scoring and review-depth controls mean the review engine goes as deep as a change actually warrants, not a fixed shallow pass.</a:t>
            </a:r>
            <a:endParaRPr sz="1200"/>
          </a:p>
        </p:txBody>
      </p:sp>
      <p:sp>
        <p:nvSpPr>
          <p:cNvPr id="223" name="Google Shape;223;p25"/>
          <p:cNvSpPr/>
          <p:nvPr/>
        </p:nvSpPr>
        <p:spPr>
          <a:xfrm>
            <a:off x="8318964" y="1833842"/>
            <a:ext cx="3441900" cy="2143200"/>
          </a:xfrm>
          <a:prstGeom prst="roundRect">
            <a:avLst>
              <a:gd fmla="val 4266" name="adj"/>
            </a:avLst>
          </a:prstGeom>
          <a:solidFill>
            <a:srgbClr val="F4F6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5"/>
          <p:cNvSpPr txBox="1"/>
          <p:nvPr/>
        </p:nvSpPr>
        <p:spPr>
          <a:xfrm>
            <a:off x="8648148" y="2144739"/>
            <a:ext cx="9144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D56F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>
                <a:solidFill>
                  <a:srgbClr val="1D56F0"/>
                </a:solidFill>
              </a:rPr>
              <a:t>2</a:t>
            </a:r>
            <a:endParaRPr/>
          </a:p>
        </p:txBody>
      </p:sp>
      <p:sp>
        <p:nvSpPr>
          <p:cNvPr id="225" name="Google Shape;225;p25"/>
          <p:cNvSpPr txBox="1"/>
          <p:nvPr/>
        </p:nvSpPr>
        <p:spPr>
          <a:xfrm>
            <a:off x="8648148" y="2437347"/>
            <a:ext cx="27834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rgbClr val="111827"/>
                </a:solidFill>
              </a:rPr>
              <a:t>Cost</a:t>
            </a:r>
            <a:endParaRPr b="1" sz="1900">
              <a:solidFill>
                <a:srgbClr val="111827"/>
              </a:solidFill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rgbClr val="111827"/>
              </a:solidFill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111827"/>
              </a:solidFill>
            </a:endParaRPr>
          </a:p>
        </p:txBody>
      </p:sp>
      <p:sp>
        <p:nvSpPr>
          <p:cNvPr id="226" name="Google Shape;226;p25"/>
          <p:cNvSpPr txBox="1"/>
          <p:nvPr/>
        </p:nvSpPr>
        <p:spPr>
          <a:xfrm>
            <a:off x="8648150" y="2839675"/>
            <a:ext cx="2981100" cy="8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300">
                <a:solidFill>
                  <a:srgbClr val="374151"/>
                </a:solidFill>
              </a:rPr>
              <a:t>Self Hosted, Adaptive Reviews' Leader + Helper model architecture cuts AI inference cost 40-50% without dropping review quality.</a:t>
            </a:r>
            <a:endParaRPr sz="1300">
              <a:solidFill>
                <a:srgbClr val="374151"/>
              </a:solidFill>
            </a:endParaRPr>
          </a:p>
        </p:txBody>
      </p:sp>
      <p:sp>
        <p:nvSpPr>
          <p:cNvPr id="227" name="Google Shape;227;p25"/>
          <p:cNvSpPr/>
          <p:nvPr/>
        </p:nvSpPr>
        <p:spPr>
          <a:xfrm>
            <a:off x="4469176" y="1813467"/>
            <a:ext cx="3441900" cy="2143200"/>
          </a:xfrm>
          <a:prstGeom prst="roundRect">
            <a:avLst>
              <a:gd fmla="val 4266" name="adj"/>
            </a:avLst>
          </a:prstGeom>
          <a:solidFill>
            <a:srgbClr val="F4F6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5"/>
          <p:cNvSpPr txBox="1"/>
          <p:nvPr/>
        </p:nvSpPr>
        <p:spPr>
          <a:xfrm>
            <a:off x="4798360" y="2124364"/>
            <a:ext cx="9144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D56F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>
                <a:solidFill>
                  <a:srgbClr val="1D56F0"/>
                </a:solidFill>
              </a:rPr>
              <a:t>2</a:t>
            </a:r>
            <a:endParaRPr/>
          </a:p>
        </p:txBody>
      </p:sp>
      <p:sp>
        <p:nvSpPr>
          <p:cNvPr id="229" name="Google Shape;229;p25"/>
          <p:cNvSpPr txBox="1"/>
          <p:nvPr/>
        </p:nvSpPr>
        <p:spPr>
          <a:xfrm>
            <a:off x="4798360" y="2416972"/>
            <a:ext cx="27834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11827"/>
                </a:solidFill>
              </a:rPr>
              <a:t>Control</a:t>
            </a:r>
            <a:endParaRPr/>
          </a:p>
        </p:txBody>
      </p:sp>
      <p:sp>
        <p:nvSpPr>
          <p:cNvPr id="230" name="Google Shape;230;p25"/>
          <p:cNvSpPr txBox="1"/>
          <p:nvPr/>
        </p:nvSpPr>
        <p:spPr>
          <a:xfrm>
            <a:off x="4798360" y="2819308"/>
            <a:ext cx="2783400" cy="8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74151"/>
                </a:solidFill>
              </a:rPr>
              <a:t>Repository Rules and CI/CD Gates turn agreed standards into checks that actually block a merge, with every skip logged in the audit trail.</a:t>
            </a:r>
            <a:endParaRPr sz="1100"/>
          </a:p>
        </p:txBody>
      </p:sp>
      <p:pic>
        <p:nvPicPr>
          <p:cNvPr descr="logo.png" id="231" name="Google Shape;23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4525645"/>
            <a:ext cx="384049" cy="384049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 txBox="1"/>
          <p:nvPr/>
        </p:nvSpPr>
        <p:spPr>
          <a:xfrm>
            <a:off x="1097277" y="4626225"/>
            <a:ext cx="34746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D56F0"/>
                </a:solidFill>
                <a:latin typeface="Arial"/>
                <a:ea typeface="Arial"/>
                <a:cs typeface="Arial"/>
                <a:sym typeface="Arial"/>
              </a:rPr>
              <a:t>hexmos.com/livereview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