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4008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9888" y="1719072"/>
            <a:ext cx="3657600" cy="4094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00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51760"/>
            <a:ext cx="10972800" cy="947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6000" b="1">
                <a:solidFill>
                  <a:srgbClr val="111827"/>
                </a:solidFill>
                <a:latin typeface="Arial"/>
              </a:rPr>
              <a:t>Find the danger.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64279"/>
            <a:ext cx="10058400" cy="4094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374151"/>
                </a:solidFill>
                <a:latin typeface="Arial"/>
              </a:rPr>
              <a:t>Rank the risk. Enforce the standard. Keep the code yours.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760720"/>
            <a:ext cx="10058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6B7280"/>
                </a:solidFill>
                <a:latin typeface="Arial"/>
              </a:rPr>
              <a:t>Attention   ·   Consistency   ·  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5812" y="434340"/>
            <a:ext cx="8792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01 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DC2626"/>
                </a:solidFill>
                <a:latin typeface="Arial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1912"/>
            <a:ext cx="11058113" cy="577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AI lets your team produce more code than it can inspect.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06472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53944"/>
            <a:ext cx="11058113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74151"/>
                </a:solidFill>
                <a:latin typeface="Arial"/>
              </a:rPr>
              <a:t>So which changes deserve your engineers' scarce attention?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968240"/>
            <a:ext cx="11058113" cy="1414272"/>
          </a:xfrm>
          <a:prstGeom prst="roundRect">
            <a:avLst>
              <a:gd name="adj" fmla="val 6465"/>
            </a:avLst>
          </a:prstGeom>
          <a:solidFill>
            <a:srgbClr val="EE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334000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LiveReview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5681472"/>
            <a:ext cx="10326593" cy="4450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LiveReview ranks every hunk by blast radius and review priority.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5812" y="434340"/>
            <a:ext cx="8792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01 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856"/>
            <a:ext cx="3310128" cy="869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Blast radius tells you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what to read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24772"/>
            <a:ext cx="3310128" cy="852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Each hunk is scored from measurable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signals, so the riskiest change sits at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the top of the review.</a:t>
            </a:r>
          </a:p>
        </p:txBody>
      </p:sp>
      <p:sp>
        <p:nvSpPr>
          <p:cNvPr id="8" name="Oval 7"/>
          <p:cNvSpPr/>
          <p:nvPr/>
        </p:nvSpPr>
        <p:spPr>
          <a:xfrm>
            <a:off x="580644" y="3806634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7" y="3733482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Risk 71 —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026090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blast radius 51, review priority 100</a:t>
            </a:r>
          </a:p>
        </p:txBody>
      </p:sp>
      <p:sp>
        <p:nvSpPr>
          <p:cNvPr id="11" name="Oval 10"/>
          <p:cNvSpPr/>
          <p:nvPr/>
        </p:nvSpPr>
        <p:spPr>
          <a:xfrm>
            <a:off x="580644" y="4506785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7" y="4433633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9 signals, all visible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726241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complexity, test coverage, fan-out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" y="5206936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5133784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Open breakdown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5426392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see exactly why a hunk scored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540" y="1916281"/>
            <a:ext cx="7336505" cy="3647228"/>
          </a:xfrm>
          <a:prstGeom prst="roundRect">
            <a:avLst>
              <a:gd name="adj" fmla="val 2507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review_blast_radiu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352544" y="1948285"/>
            <a:ext cx="7272497" cy="35832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4713" y="434340"/>
            <a:ext cx="11003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02 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DC2626"/>
                </a:solidFill>
                <a:latin typeface="Arial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1912"/>
            <a:ext cx="11058113" cy="1044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A standard is useless when every engineer must</a:t>
            </a:r>
          </a:p>
          <a:p>
            <a:pPr algn="l">
              <a:lnSpc>
                <a:spcPct val="11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remember to enforce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73832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21304"/>
            <a:ext cx="11058113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74151"/>
                </a:solidFill>
                <a:latin typeface="Arial"/>
              </a:rPr>
              <a:t>How do you make good review happen every time without slowing the team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374151"/>
                </a:solidFill>
                <a:latin typeface="Arial"/>
              </a:rPr>
              <a:t>down?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32960"/>
            <a:ext cx="11058113" cy="1749551"/>
          </a:xfrm>
          <a:prstGeom prst="roundRect">
            <a:avLst>
              <a:gd name="adj" fmla="val 5226"/>
            </a:avLst>
          </a:prstGeom>
          <a:solidFill>
            <a:srgbClr val="EE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998720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LiveReview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5346192"/>
            <a:ext cx="10326593" cy="780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LiveReview reviews at commit, push, PR, CI/CD, and on schedule, enforcing</a:t>
            </a:r>
          </a:p>
          <a:p>
            <a:pPr algn="l">
              <a:lnSpc>
                <a:spcPct val="12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your rules.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4713" y="434340"/>
            <a:ext cx="11003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02 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8113" cy="5186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11827"/>
                </a:solidFill>
                <a:latin typeface="Arial"/>
              </a:rPr>
              <a:t>The review reads like a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34236"/>
            <a:ext cx="11058113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Findings become slides — technical highlights per file, with auto-play for a walkthrough.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2246" y="2160778"/>
            <a:ext cx="8567476" cy="4253738"/>
          </a:xfrm>
          <a:prstGeom prst="roundRect">
            <a:avLst>
              <a:gd name="adj" fmla="val 2149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review_slide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44250" y="2192782"/>
            <a:ext cx="8503468" cy="41897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4713" y="434340"/>
            <a:ext cx="11003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02 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19757"/>
            <a:ext cx="3310128" cy="869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Check the review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actually landed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98673"/>
            <a:ext cx="3310128" cy="605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A short quiz per review turns a skim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into understanding.</a:t>
            </a:r>
          </a:p>
        </p:txBody>
      </p:sp>
      <p:sp>
        <p:nvSpPr>
          <p:cNvPr id="8" name="Oval 7"/>
          <p:cNvSpPr/>
          <p:nvPr/>
        </p:nvSpPr>
        <p:spPr>
          <a:xfrm>
            <a:off x="580644" y="4032885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7" y="3959733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5 questions per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252341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graded against the diff</a:t>
            </a:r>
          </a:p>
        </p:txBody>
      </p:sp>
      <p:sp>
        <p:nvSpPr>
          <p:cNvPr id="11" name="Oval 10"/>
          <p:cNvSpPr/>
          <p:nvPr/>
        </p:nvSpPr>
        <p:spPr>
          <a:xfrm>
            <a:off x="580644" y="4733036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7" y="4659884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Slides · Text · Quiz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952492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three ways to read one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540" y="1916281"/>
            <a:ext cx="7336505" cy="3647228"/>
          </a:xfrm>
          <a:prstGeom prst="roundRect">
            <a:avLst>
              <a:gd name="adj" fmla="val 2507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review_quiz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352544" y="1948285"/>
            <a:ext cx="7272497" cy="35832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4713" y="434340"/>
            <a:ext cx="11003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02 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8113" cy="5186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11827"/>
                </a:solidFill>
                <a:latin typeface="Arial"/>
              </a:rPr>
              <a:t>A gate your pipeline can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34236"/>
            <a:ext cx="11058113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Write a jq rule over a review's findings, save it, and call one URL from any CI/CD pipeline to block or allow the build.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2246" y="2160778"/>
            <a:ext cx="8567476" cy="4253738"/>
          </a:xfrm>
          <a:prstGeom prst="roundRect">
            <a:avLst>
              <a:gd name="adj" fmla="val 2149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cicd_gate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44250" y="2192782"/>
            <a:ext cx="8503468" cy="41897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4713" y="434340"/>
            <a:ext cx="11003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02 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19757"/>
            <a:ext cx="3310128" cy="869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Reviews that run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without being asked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98673"/>
            <a:ext cx="3310128" cy="605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Point LiveReview at a repository's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default branch and set a time.</a:t>
            </a:r>
          </a:p>
        </p:txBody>
      </p:sp>
      <p:sp>
        <p:nvSpPr>
          <p:cNvPr id="8" name="Oval 7"/>
          <p:cNvSpPr/>
          <p:nvPr/>
        </p:nvSpPr>
        <p:spPr>
          <a:xfrm>
            <a:off x="580644" y="4032885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7" y="3959733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Per-repository schedules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252341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GitHub, GitLab and more</a:t>
            </a:r>
          </a:p>
        </p:txBody>
      </p:sp>
      <p:sp>
        <p:nvSpPr>
          <p:cNvPr id="11" name="Oval 10"/>
          <p:cNvSpPr/>
          <p:nvPr/>
        </p:nvSpPr>
        <p:spPr>
          <a:xfrm>
            <a:off x="580644" y="4733036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7" y="4659884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Runs on the default 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952492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main or master, your choice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540" y="1916281"/>
            <a:ext cx="7336505" cy="3647228"/>
          </a:xfrm>
          <a:prstGeom prst="roundRect">
            <a:avLst>
              <a:gd name="adj" fmla="val 2507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schedule_review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352544" y="1948285"/>
            <a:ext cx="7272497" cy="35832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59993" y="434340"/>
            <a:ext cx="76504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03 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DC2626"/>
                </a:solidFill>
                <a:latin typeface="Arial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1912"/>
            <a:ext cx="11058113" cy="1511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Other reviewers send your code outside your</a:t>
            </a:r>
          </a:p>
          <a:p>
            <a:pPr algn="l">
              <a:lnSpc>
                <a:spcPct val="11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infrastructure, and seat-based monthly pricing can get</a:t>
            </a:r>
          </a:p>
          <a:p>
            <a:pPr algn="l">
              <a:lnSpc>
                <a:spcPct val="115000"/>
              </a:lnSpc>
            </a:pPr>
            <a:r>
              <a:rPr sz="3200" b="1">
                <a:solidFill>
                  <a:srgbClr val="111827"/>
                </a:solidFill>
                <a:latin typeface="Arial"/>
              </a:rPr>
              <a:t>expensive.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41192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The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788664"/>
            <a:ext cx="11058113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74151"/>
                </a:solidFill>
                <a:latin typeface="Arial"/>
              </a:rPr>
              <a:t>Keep your code in your infrastructure and choose which AI models inspect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32960"/>
            <a:ext cx="11058113" cy="1749551"/>
          </a:xfrm>
          <a:prstGeom prst="roundRect">
            <a:avLst>
              <a:gd name="adj" fmla="val 5226"/>
            </a:avLst>
          </a:prstGeom>
          <a:solidFill>
            <a:srgbClr val="EEF3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998720"/>
            <a:ext cx="5486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And also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5346192"/>
            <a:ext cx="10326593" cy="780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Adaptive Reviews cut AI cost; Livi learns from reviews; CLI, IDE, MCP and</a:t>
            </a:r>
          </a:p>
          <a:p>
            <a:pPr algn="l">
              <a:lnSpc>
                <a:spcPct val="120000"/>
              </a:lnSpc>
            </a:pPr>
            <a:r>
              <a:rPr sz="2200" b="1">
                <a:solidFill>
                  <a:srgbClr val="111827"/>
                </a:solidFill>
                <a:latin typeface="Arial"/>
              </a:rPr>
              <a:t>API fit your workflow.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59993" y="434340"/>
            <a:ext cx="76504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03 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8113" cy="5186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11827"/>
                </a:solidFill>
                <a:latin typeface="Arial"/>
              </a:rPr>
              <a:t>Ask Livi about your own codebase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34236"/>
            <a:ext cx="11058113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Reviews, trends, adoption and billing — answered from your data, inside your infrastructure.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2246" y="2160778"/>
            <a:ext cx="8567476" cy="4253738"/>
          </a:xfrm>
          <a:prstGeom prst="roundRect">
            <a:avLst>
              <a:gd name="adj" fmla="val 2149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livi_chat_bo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44250" y="2192782"/>
            <a:ext cx="8503468" cy="41897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59993" y="434340"/>
            <a:ext cx="76504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03 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856"/>
            <a:ext cx="3310128" cy="869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Onboarding,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24772"/>
            <a:ext cx="3310128" cy="852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A generated report on how your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organisation actually adopted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LiveReview.</a:t>
            </a:r>
          </a:p>
        </p:txBody>
      </p:sp>
      <p:sp>
        <p:nvSpPr>
          <p:cNvPr id="8" name="Oval 7"/>
          <p:cNvSpPr/>
          <p:nvPr/>
        </p:nvSpPr>
        <p:spPr>
          <a:xfrm>
            <a:off x="580644" y="3806634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7" y="3733482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7 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026090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adoption, repositories, engineers, quality</a:t>
            </a:r>
          </a:p>
        </p:txBody>
      </p:sp>
      <p:sp>
        <p:nvSpPr>
          <p:cNvPr id="11" name="Oval 10"/>
          <p:cNvSpPr/>
          <p:nvPr/>
        </p:nvSpPr>
        <p:spPr>
          <a:xfrm>
            <a:off x="580644" y="4506785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7" y="4433633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Cost &amp; 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726241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what review actually costs you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" y="5206936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5133784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Engagement &amp;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5426392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are findings being acted 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540" y="1916281"/>
            <a:ext cx="7336505" cy="3647228"/>
          </a:xfrm>
          <a:prstGeom prst="roundRect">
            <a:avLst>
              <a:gd name="adj" fmla="val 2507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onboarding_report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352544" y="1948285"/>
            <a:ext cx="7272497" cy="35832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59993" y="434340"/>
            <a:ext cx="76504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03 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8113" cy="5186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11827"/>
                </a:solidFill>
                <a:latin typeface="Arial"/>
              </a:rPr>
              <a:t>Everything from one top 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34236"/>
            <a:ext cx="11058113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Reviews, Explore, Providers, Reports and Settings — start a review from the UI, CLI, MCP or chatbot.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2246" y="2160778"/>
            <a:ext cx="8567476" cy="4253738"/>
          </a:xfrm>
          <a:prstGeom prst="roundRect">
            <a:avLst>
              <a:gd name="adj" fmla="val 2149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all_features_navigatio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44250" y="2192782"/>
            <a:ext cx="8503468" cy="41897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5812" y="434340"/>
            <a:ext cx="8792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01 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856"/>
            <a:ext cx="3310128" cy="869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Every review, one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111827"/>
                </a:solidFill>
                <a:latin typeface="Arial"/>
              </a:rPr>
              <a:t>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24772"/>
            <a:ext cx="3310128" cy="852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Volume, issue mix and quality trends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across every stage a review can run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at.</a:t>
            </a:r>
          </a:p>
        </p:txBody>
      </p:sp>
      <p:sp>
        <p:nvSpPr>
          <p:cNvPr id="8" name="Oval 7"/>
          <p:cNvSpPr/>
          <p:nvPr/>
        </p:nvSpPr>
        <p:spPr>
          <a:xfrm>
            <a:off x="580644" y="3806634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7" y="3733482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177 pre-commit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026090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2,143 issues found</a:t>
            </a:r>
          </a:p>
        </p:txBody>
      </p:sp>
      <p:sp>
        <p:nvSpPr>
          <p:cNvPr id="11" name="Oval 10"/>
          <p:cNvSpPr/>
          <p:nvPr/>
        </p:nvSpPr>
        <p:spPr>
          <a:xfrm>
            <a:off x="580644" y="4506785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7" y="4433633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3 merge / pull 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726241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54 issues found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" y="5206936"/>
            <a:ext cx="91440" cy="91440"/>
          </a:xfrm>
          <a:prstGeom prst="ellipse">
            <a:avLst/>
          </a:prstGeom>
          <a:solidFill>
            <a:srgbClr val="1D5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5133784"/>
            <a:ext cx="3035808" cy="3345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111827"/>
                </a:solidFill>
                <a:latin typeface="Arial"/>
              </a:rPr>
              <a:t>5 API / MCP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5426392"/>
            <a:ext cx="3035808" cy="316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Arial"/>
              </a:rPr>
              <a:t>34 issues found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540" y="1916281"/>
            <a:ext cx="7336505" cy="3647228"/>
          </a:xfrm>
          <a:prstGeom prst="roundRect">
            <a:avLst>
              <a:gd name="adj" fmla="val 2507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dashboar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352544" y="1948285"/>
            <a:ext cx="7272497" cy="35832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5812" y="434340"/>
            <a:ext cx="879228" cy="289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8000"/>
              </a:lnSpc>
            </a:pPr>
            <a:r>
              <a:rPr sz="1200" b="0">
                <a:solidFill>
                  <a:srgbClr val="6B7280"/>
                </a:solidFill>
                <a:latin typeface="Arial"/>
              </a:rPr>
              <a:t>01 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8113" cy="5186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11827"/>
                </a:solidFill>
                <a:latin typeface="Arial"/>
              </a:rPr>
              <a:t>Every run lands in one queue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34236"/>
            <a:ext cx="11058113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Branch, repository, source and status for each review — GitHub, GitLab, or straight from the CLI.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2246" y="2160778"/>
            <a:ext cx="8567476" cy="4253738"/>
          </a:xfrm>
          <a:prstGeom prst="roundRect">
            <a:avLst>
              <a:gd name="adj" fmla="val 2149"/>
            </a:avLst>
          </a:prstGeom>
          <a:noFill/>
          <a:ln w="15875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list_review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44250" y="2192782"/>
            <a:ext cx="8503468" cy="41897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 repeatCount="indefinite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429768"/>
            <a:ext cx="2011680" cy="297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11827"/>
                </a:solidFill>
                <a:latin typeface="Arial"/>
              </a:rPr>
              <a:t>LiveReview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0515600" cy="679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3800" b="1">
                <a:solidFill>
                  <a:srgbClr val="111827"/>
                </a:solidFill>
                <a:latin typeface="Arial"/>
              </a:rPr>
              <a:t>Three problems. One reviewer.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468880"/>
            <a:ext cx="3441801" cy="2143125"/>
          </a:xfrm>
          <a:prstGeom prst="roundRect">
            <a:avLst>
              <a:gd name="adj" fmla="val 4266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779776"/>
            <a:ext cx="914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72384"/>
            <a:ext cx="2783433" cy="394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Arial"/>
              </a:rPr>
              <a:t>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474720"/>
            <a:ext cx="2783433" cy="6240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Every hunk ranked by blast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radius and review priority.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4489" y="2468880"/>
            <a:ext cx="3441801" cy="2143125"/>
          </a:xfrm>
          <a:prstGeom prst="roundRect">
            <a:avLst>
              <a:gd name="adj" fmla="val 4266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703673" y="2779776"/>
            <a:ext cx="914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3673" y="3072384"/>
            <a:ext cx="2783433" cy="394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Arial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3673" y="3474720"/>
            <a:ext cx="2783433" cy="8812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Reviews at commit, push, PR,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CI/CD and on schedule,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enforcing your rules.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2051" y="2468880"/>
            <a:ext cx="3441801" cy="2143125"/>
          </a:xfrm>
          <a:prstGeom prst="roundRect">
            <a:avLst>
              <a:gd name="adj" fmla="val 4266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11235" y="2779776"/>
            <a:ext cx="914400" cy="319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D56F0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1235" y="3072384"/>
            <a:ext cx="2783433" cy="394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900" b="1">
                <a:solidFill>
                  <a:srgbClr val="111827"/>
                </a:solidFill>
                <a:latin typeface="Arial"/>
              </a:rP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1235" y="3474720"/>
            <a:ext cx="2783433" cy="8812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Your code stays in your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infrastructure, and you pick the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374151"/>
                </a:solidFill>
                <a:latin typeface="Arial"/>
              </a:rPr>
              <a:t>AI models that inspect it.</a:t>
            </a:r>
          </a:p>
        </p:txBody>
      </p:sp>
      <p:pic>
        <p:nvPicPr>
          <p:cNvPr id="18" name="Picture 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160645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7280" y="5261229"/>
            <a:ext cx="5486400" cy="349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D56F0"/>
                </a:solidFill>
                <a:latin typeface="Arial"/>
              </a:rPr>
              <a:t>hexmos.com/livereview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