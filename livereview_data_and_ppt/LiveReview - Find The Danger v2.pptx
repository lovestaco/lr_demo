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5.mp4"/><Relationship Id="rId4" Type="http://schemas.openxmlformats.org/officeDocument/2006/relationships/video" Target="../media/media5.mp4"/><Relationship Id="rId5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6.mp4"/><Relationship Id="rId4" Type="http://schemas.openxmlformats.org/officeDocument/2006/relationships/video" Target="../media/media6.mp4"/><Relationship Id="rId5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8.mp4"/><Relationship Id="rId4" Type="http://schemas.openxmlformats.org/officeDocument/2006/relationships/video" Target="../media/media8.mp4"/><Relationship Id="rId5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9.mp4"/><Relationship Id="rId4" Type="http://schemas.openxmlformats.org/officeDocument/2006/relationships/video" Target="../media/media9.mp4"/><Relationship Id="rId5" Type="http://schemas.openxmlformats.org/officeDocument/2006/relationships/image" Target="../media/image1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0.mp4"/><Relationship Id="rId4" Type="http://schemas.openxmlformats.org/officeDocument/2006/relationships/video" Target="../media/media10.mp4"/><Relationship Id="rId5" Type="http://schemas.openxmlformats.org/officeDocument/2006/relationships/image" Target="../media/image1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44752"/>
            <a:ext cx="786384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1664208"/>
            <a:ext cx="3657600" cy="3944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900" b="1" spc="9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15184"/>
            <a:ext cx="10058400" cy="2209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800" b="1">
                <a:solidFill>
                  <a:srgbClr val="FFFFFF"/>
                </a:solidFill>
                <a:latin typeface="Arial"/>
              </a:rPr>
              <a:t>Find the</a:t>
            </a:r>
          </a:p>
          <a:p>
            <a:pPr algn="l">
              <a:lnSpc>
                <a:spcPct val="106000"/>
              </a:lnSpc>
            </a:pPr>
            <a:r>
              <a:rPr sz="7800" b="1">
                <a:solidFill>
                  <a:srgbClr val="FFFFFF"/>
                </a:solidFill>
                <a:latin typeface="Arial"/>
              </a:rPr>
              <a:t>danger.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6151"/>
            <a:ext cx="10058400" cy="3719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750" b="0">
                <a:solidFill>
                  <a:srgbClr val="8B99B8"/>
                </a:solidFill>
                <a:latin typeface="Arial"/>
              </a:rPr>
              <a:t>Rank the risk. Enforce the standard. Keep the code yours.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98945" y="5614416"/>
            <a:ext cx="2359152" cy="731520"/>
          </a:xfrm>
          <a:prstGeom prst="roundRect">
            <a:avLst>
              <a:gd name="adj" fmla="val 12500"/>
            </a:avLst>
          </a:prstGeom>
          <a:solidFill>
            <a:srgbClr val="0E1322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236689" y="5779008"/>
            <a:ext cx="548640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6F93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0465" y="5824728"/>
            <a:ext cx="1444752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B99B8"/>
                </a:solidFill>
                <a:latin typeface="Arial"/>
              </a:rPr>
              <a:t>ATTENTION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2417" y="5614416"/>
            <a:ext cx="2359152" cy="731520"/>
          </a:xfrm>
          <a:prstGeom prst="roundRect">
            <a:avLst>
              <a:gd name="adj" fmla="val 12500"/>
            </a:avLst>
          </a:prstGeom>
          <a:solidFill>
            <a:srgbClr val="0E1322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70161" y="5779008"/>
            <a:ext cx="548640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6F93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3937" y="5824728"/>
            <a:ext cx="1444752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B99B8"/>
                </a:solidFill>
                <a:latin typeface="Arial"/>
              </a:rPr>
              <a:t>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65889" y="5614416"/>
            <a:ext cx="2359152" cy="731520"/>
          </a:xfrm>
          <a:prstGeom prst="roundRect">
            <a:avLst>
              <a:gd name="adj" fmla="val 12500"/>
            </a:avLst>
          </a:prstGeom>
          <a:solidFill>
            <a:srgbClr val="0E1322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3633" y="5779008"/>
            <a:ext cx="548640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6F93F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7409" y="5824728"/>
            <a:ext cx="1444752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8B99B8"/>
                </a:solidFill>
                <a:latin typeface="Arial"/>
              </a:rPr>
              <a:t>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8815" y="434340"/>
            <a:ext cx="193622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01  —  ATTENTION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177747"/>
            <a:ext cx="105156" cy="10515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756361" cy="119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AI lets your team produce more code than it</a:t>
            </a:r>
          </a:p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can inspect.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8815" y="434340"/>
            <a:ext cx="193622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01  —  ATTENTION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177747"/>
            <a:ext cx="105156" cy="10515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756361" cy="119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AI lets your team produce more code than it</a:t>
            </a:r>
          </a:p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can inspect.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54299"/>
            <a:ext cx="105156" cy="105156"/>
          </a:xfrm>
          <a:prstGeom prst="ellipse">
            <a:avLst/>
          </a:prstGeom>
          <a:solidFill>
            <a:srgbClr val="6F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028696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6F93FF"/>
                </a:solidFill>
                <a:latin typeface="Arial"/>
              </a:rPr>
              <a:t>THE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9592"/>
            <a:ext cx="10756361" cy="5074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So which changes deserve your engineers' scarce attention?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8815" y="434340"/>
            <a:ext cx="193622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01  —  ATTENTION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177747"/>
            <a:ext cx="105156" cy="10515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756361" cy="119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AI lets your team produce more code than it</a:t>
            </a:r>
          </a:p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can inspect.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54299"/>
            <a:ext cx="105156" cy="105156"/>
          </a:xfrm>
          <a:prstGeom prst="ellipse">
            <a:avLst/>
          </a:prstGeom>
          <a:solidFill>
            <a:srgbClr val="6F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028696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6F93FF"/>
                </a:solidFill>
                <a:latin typeface="Arial"/>
              </a:rPr>
              <a:t>THE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9592"/>
            <a:ext cx="10756361" cy="5074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So which changes deserve your engineers' scarce attention?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002022"/>
            <a:ext cx="11058113" cy="1289050"/>
          </a:xfrm>
          <a:prstGeom prst="roundRect">
            <a:avLst>
              <a:gd name="adj" fmla="val 8512"/>
            </a:avLst>
          </a:prstGeom>
          <a:solidFill>
            <a:srgbClr val="0E1322"/>
          </a:solidFill>
          <a:ln w="13970">
            <a:solidFill>
              <a:srgbClr val="1D5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50976" y="5367782"/>
            <a:ext cx="105156" cy="105156"/>
          </a:xfrm>
          <a:prstGeom prst="ellipse">
            <a:avLst/>
          </a:prstGeom>
          <a:solidFill>
            <a:srgbClr val="6F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52728" y="5342178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6F93FF"/>
                </a:solidFill>
                <a:latin typeface="Arial"/>
              </a:rPr>
              <a:t>LIVEREVIEW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5660390"/>
            <a:ext cx="10052273" cy="4843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LiveReview ranks every hunk by blast radius and review priority.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8815" y="434340"/>
            <a:ext cx="193622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01  — 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7306"/>
            <a:ext cx="3310128" cy="846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Every review, one</a:t>
            </a:r>
          </a:p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73362"/>
            <a:ext cx="3310128" cy="5726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Volume, issue mix and quality trends across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every stage a review can run at.</a:t>
            </a:r>
          </a:p>
        </p:txBody>
      </p:sp>
      <p:sp>
        <p:nvSpPr>
          <p:cNvPr id="8" name="Oval 7"/>
          <p:cNvSpPr/>
          <p:nvPr/>
        </p:nvSpPr>
        <p:spPr>
          <a:xfrm>
            <a:off x="580644" y="3615753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7" y="3547173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177 pre-commit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821493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2,143 issues found</a:t>
            </a:r>
          </a:p>
        </p:txBody>
      </p:sp>
      <p:sp>
        <p:nvSpPr>
          <p:cNvPr id="11" name="Oval 10"/>
          <p:cNvSpPr/>
          <p:nvPr/>
        </p:nvSpPr>
        <p:spPr>
          <a:xfrm>
            <a:off x="580644" y="4259897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4191317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3 merge / pull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465637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54 issues found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" y="4904041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4835461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5 API / MCP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109781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34 issues 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540" y="1824841"/>
            <a:ext cx="7336505" cy="3647228"/>
          </a:xfrm>
          <a:prstGeom prst="roundRect">
            <a:avLst>
              <a:gd name="adj" fmla="val 2507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dashboar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52544" y="1856845"/>
            <a:ext cx="7272497" cy="3583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8815" y="434340"/>
            <a:ext cx="193622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01  — 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8113" cy="492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Every run lands in one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34592"/>
            <a:ext cx="11058113" cy="339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Branch, repository, source and status for each review — GitHub, GitLab, or straight from the CLI.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5799" y="1888363"/>
            <a:ext cx="9120369" cy="4526153"/>
          </a:xfrm>
          <a:prstGeom prst="roundRect">
            <a:avLst>
              <a:gd name="adj" fmla="val 2020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list_review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7803" y="1920367"/>
            <a:ext cx="9056361" cy="4462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8815" y="434340"/>
            <a:ext cx="193622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01  — 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1577"/>
            <a:ext cx="3310128" cy="846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Blast radius tells you</a:t>
            </a:r>
          </a:p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what to read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57633"/>
            <a:ext cx="3310128" cy="804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Each hunk is scored from measurable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signals, so the riskiest change sits at the top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of the review.</a:t>
            </a:r>
          </a:p>
        </p:txBody>
      </p:sp>
      <p:sp>
        <p:nvSpPr>
          <p:cNvPr id="8" name="Oval 7"/>
          <p:cNvSpPr/>
          <p:nvPr/>
        </p:nvSpPr>
        <p:spPr>
          <a:xfrm>
            <a:off x="580644" y="3731482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7" y="3662902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Risk 71 —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937222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blast radius 51, review priority 100</a:t>
            </a:r>
          </a:p>
        </p:txBody>
      </p:sp>
      <p:sp>
        <p:nvSpPr>
          <p:cNvPr id="11" name="Oval 10"/>
          <p:cNvSpPr/>
          <p:nvPr/>
        </p:nvSpPr>
        <p:spPr>
          <a:xfrm>
            <a:off x="580644" y="4375626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4307046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9 signals, all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581366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complexity, test coverage, fan-out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" y="5019770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4951190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Open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225510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see exactly why a hunk scored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540" y="1824841"/>
            <a:ext cx="7336505" cy="3647228"/>
          </a:xfrm>
          <a:prstGeom prst="roundRect">
            <a:avLst>
              <a:gd name="adj" fmla="val 2507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review_blast_radiu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52544" y="1856845"/>
            <a:ext cx="7272497" cy="3583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195" y="434340"/>
            <a:ext cx="21978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02  —  CONSISTENCY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177747"/>
            <a:ext cx="105156" cy="10515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756361" cy="119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A standard is useless when every engineer</a:t>
            </a:r>
          </a:p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must remember to enforce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195" y="434340"/>
            <a:ext cx="21978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02  —  CONSISTENCY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177747"/>
            <a:ext cx="105156" cy="10515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756361" cy="119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A standard is useless when every engineer</a:t>
            </a:r>
          </a:p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must remember to enforce it.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54299"/>
            <a:ext cx="105156" cy="105156"/>
          </a:xfrm>
          <a:prstGeom prst="ellipse">
            <a:avLst/>
          </a:prstGeom>
          <a:solidFill>
            <a:srgbClr val="6F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028696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6F93FF"/>
                </a:solidFill>
                <a:latin typeface="Arial"/>
              </a:rPr>
              <a:t>THE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9592"/>
            <a:ext cx="10756361" cy="905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How do you make good review happen every time without</a:t>
            </a:r>
          </a:p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slowing the team down?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195" y="434340"/>
            <a:ext cx="21978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02  —  CONSISTENCY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177747"/>
            <a:ext cx="105156" cy="10515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756361" cy="119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A standard is useless when every engineer</a:t>
            </a:r>
          </a:p>
          <a:p>
            <a:pPr algn="l">
              <a:lnSpc>
                <a:spcPct val="116000"/>
              </a:lnSpc>
            </a:pPr>
            <a:r>
              <a:rPr sz="3700" b="1">
                <a:solidFill>
                  <a:srgbClr val="FFFFFF"/>
                </a:solidFill>
                <a:latin typeface="Arial"/>
              </a:rPr>
              <a:t>must remember to enforce it.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54299"/>
            <a:ext cx="105156" cy="105156"/>
          </a:xfrm>
          <a:prstGeom prst="ellipse">
            <a:avLst/>
          </a:prstGeom>
          <a:solidFill>
            <a:srgbClr val="6F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028696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6F93FF"/>
                </a:solidFill>
                <a:latin typeface="Arial"/>
              </a:rPr>
              <a:t>THE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9592"/>
            <a:ext cx="10756361" cy="905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How do you make good review happen every time without</a:t>
            </a:r>
          </a:p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slowing the team down?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627372"/>
            <a:ext cx="11058113" cy="1663700"/>
          </a:xfrm>
          <a:prstGeom prst="roundRect">
            <a:avLst>
              <a:gd name="adj" fmla="val 6595"/>
            </a:avLst>
          </a:prstGeom>
          <a:solidFill>
            <a:srgbClr val="0E1322"/>
          </a:solidFill>
          <a:ln w="13970">
            <a:solidFill>
              <a:srgbClr val="1D5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50976" y="4993132"/>
            <a:ext cx="105156" cy="105156"/>
          </a:xfrm>
          <a:prstGeom prst="ellipse">
            <a:avLst/>
          </a:prstGeom>
          <a:solidFill>
            <a:srgbClr val="6F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52728" y="4967528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6F93FF"/>
                </a:solidFill>
                <a:latin typeface="Arial"/>
              </a:rPr>
              <a:t>LIVEREVIEW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5285739"/>
            <a:ext cx="10052273" cy="859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LiveReview reviews at commit, push, PR, CI/CD, and on schedule,</a:t>
            </a:r>
          </a:p>
          <a:p>
            <a:pPr algn="l">
              <a:lnSpc>
                <a:spcPct val="118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enforcing your rules.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195" y="434340"/>
            <a:ext cx="21978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02  — 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8113" cy="492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The review reads like a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34592"/>
            <a:ext cx="11058113" cy="339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Findings become slides — technical highlights per file, with auto-play for a walkthrough.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5799" y="1888363"/>
            <a:ext cx="9120369" cy="4526153"/>
          </a:xfrm>
          <a:prstGeom prst="roundRect">
            <a:avLst>
              <a:gd name="adj" fmla="val 2020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review_slide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7803" y="1920367"/>
            <a:ext cx="9056361" cy="4462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195" y="434340"/>
            <a:ext cx="21978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02  — 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39378"/>
            <a:ext cx="3310128" cy="846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Check the review</a:t>
            </a:r>
          </a:p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actually landed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95434"/>
            <a:ext cx="3310128" cy="5726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A short quiz per review turns a skim into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understanding.</a:t>
            </a:r>
          </a:p>
        </p:txBody>
      </p:sp>
      <p:sp>
        <p:nvSpPr>
          <p:cNvPr id="8" name="Oval 7"/>
          <p:cNvSpPr/>
          <p:nvPr/>
        </p:nvSpPr>
        <p:spPr>
          <a:xfrm>
            <a:off x="580644" y="3937825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7" y="3869245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5 questions per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143565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graded against the diff</a:t>
            </a:r>
          </a:p>
        </p:txBody>
      </p:sp>
      <p:sp>
        <p:nvSpPr>
          <p:cNvPr id="11" name="Oval 10"/>
          <p:cNvSpPr/>
          <p:nvPr/>
        </p:nvSpPr>
        <p:spPr>
          <a:xfrm>
            <a:off x="580644" y="4581969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4513389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Slides · Text · Quiz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787709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three ways to read one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540" y="1824841"/>
            <a:ext cx="7336505" cy="3647228"/>
          </a:xfrm>
          <a:prstGeom prst="roundRect">
            <a:avLst>
              <a:gd name="adj" fmla="val 2507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review_quiz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52544" y="1856845"/>
            <a:ext cx="7272497" cy="3583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195" y="434340"/>
            <a:ext cx="21978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02  — 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8113" cy="492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A gate your pipeline can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34592"/>
            <a:ext cx="11058113" cy="339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Write a jq rule over a review's findings, save it, and call one URL from any CI/CD pipeline to block or allow the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5799" y="1888363"/>
            <a:ext cx="9120369" cy="4526153"/>
          </a:xfrm>
          <a:prstGeom prst="roundRect">
            <a:avLst>
              <a:gd name="adj" fmla="val 2020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cicd_gate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7803" y="1920367"/>
            <a:ext cx="9056361" cy="4462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195" y="434340"/>
            <a:ext cx="21978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02  — 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39378"/>
            <a:ext cx="3310128" cy="846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Reviews that run</a:t>
            </a:r>
          </a:p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without being asked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95434"/>
            <a:ext cx="3310128" cy="5726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Point LiveReview at a repository's default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branch and set a time.</a:t>
            </a:r>
          </a:p>
        </p:txBody>
      </p:sp>
      <p:sp>
        <p:nvSpPr>
          <p:cNvPr id="8" name="Oval 7"/>
          <p:cNvSpPr/>
          <p:nvPr/>
        </p:nvSpPr>
        <p:spPr>
          <a:xfrm>
            <a:off x="580644" y="3937825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7" y="3869245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Per-repository schedules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143565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GitHub, GitLab and more</a:t>
            </a:r>
          </a:p>
        </p:txBody>
      </p:sp>
      <p:sp>
        <p:nvSpPr>
          <p:cNvPr id="11" name="Oval 10"/>
          <p:cNvSpPr/>
          <p:nvPr/>
        </p:nvSpPr>
        <p:spPr>
          <a:xfrm>
            <a:off x="580644" y="4581969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4513389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Runs on the default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787709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main or master, your choice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540" y="1824841"/>
            <a:ext cx="7336505" cy="3647228"/>
          </a:xfrm>
          <a:prstGeom prst="roundRect">
            <a:avLst>
              <a:gd name="adj" fmla="val 2507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schedule_review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52544" y="1856845"/>
            <a:ext cx="7272497" cy="3583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0895" y="434340"/>
            <a:ext cx="18041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03  — 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177747"/>
            <a:ext cx="105156" cy="10515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756361" cy="14798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Arial"/>
              </a:rPr>
              <a:t>Other reviewers send your code outside your</a:t>
            </a:r>
          </a:p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Arial"/>
              </a:rPr>
              <a:t>infrastructure, and seat-based monthly pricing can get</a:t>
            </a:r>
          </a:p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Arial"/>
              </a:rPr>
              <a:t>expensive.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0895" y="434340"/>
            <a:ext cx="18041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03  — 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177747"/>
            <a:ext cx="105156" cy="10515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756361" cy="14798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Arial"/>
              </a:rPr>
              <a:t>Other reviewers send your code outside your</a:t>
            </a:r>
          </a:p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Arial"/>
              </a:rPr>
              <a:t>infrastructure, and seat-based monthly pricing can get</a:t>
            </a:r>
          </a:p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Arial"/>
              </a:rPr>
              <a:t>expensive.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334207"/>
            <a:ext cx="105156" cy="105156"/>
          </a:xfrm>
          <a:prstGeom prst="ellipse">
            <a:avLst/>
          </a:prstGeom>
          <a:solidFill>
            <a:srgbClr val="6F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30860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6F93FF"/>
                </a:solidFill>
                <a:latin typeface="Arial"/>
              </a:rPr>
              <a:t>THE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9500"/>
            <a:ext cx="10756361" cy="905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Keep your code in your infrastructure and choose which AI</a:t>
            </a:r>
          </a:p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models inspect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0895" y="434340"/>
            <a:ext cx="18041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03  —  CONTROL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177747"/>
            <a:ext cx="105156" cy="10515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756361" cy="14798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Arial"/>
              </a:rPr>
              <a:t>Other reviewers send your code outside your</a:t>
            </a:r>
          </a:p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Arial"/>
              </a:rPr>
              <a:t>infrastructure, and seat-based monthly pricing can get</a:t>
            </a:r>
          </a:p>
          <a:p>
            <a:pPr algn="l">
              <a:lnSpc>
                <a:spcPct val="116000"/>
              </a:lnSpc>
            </a:pPr>
            <a:r>
              <a:rPr sz="3100" b="1">
                <a:solidFill>
                  <a:srgbClr val="FFFFFF"/>
                </a:solidFill>
                <a:latin typeface="Arial"/>
              </a:rPr>
              <a:t>expensive.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334207"/>
            <a:ext cx="105156" cy="105156"/>
          </a:xfrm>
          <a:prstGeom prst="ellipse">
            <a:avLst/>
          </a:prstGeom>
          <a:solidFill>
            <a:srgbClr val="6F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308604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6F93FF"/>
                </a:solidFill>
                <a:latin typeface="Arial"/>
              </a:rPr>
              <a:t>THE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9500"/>
            <a:ext cx="10756361" cy="905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Keep your code in your infrastructure and choose which AI</a:t>
            </a:r>
          </a:p>
          <a:p>
            <a:pPr algn="l">
              <a:lnSpc>
                <a:spcPct val="116000"/>
              </a:lnSpc>
            </a:pPr>
            <a:r>
              <a:rPr sz="2700" b="1">
                <a:solidFill>
                  <a:srgbClr val="E8EEFC"/>
                </a:solidFill>
                <a:latin typeface="Arial"/>
              </a:rPr>
              <a:t>models inspect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47260"/>
            <a:ext cx="11058113" cy="1543812"/>
          </a:xfrm>
          <a:prstGeom prst="roundRect">
            <a:avLst>
              <a:gd name="adj" fmla="val 7107"/>
            </a:avLst>
          </a:prstGeom>
          <a:solidFill>
            <a:srgbClr val="0E1322"/>
          </a:solidFill>
          <a:ln w="13970">
            <a:solidFill>
              <a:srgbClr val="1D5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50976" y="5113020"/>
            <a:ext cx="105156" cy="105156"/>
          </a:xfrm>
          <a:prstGeom prst="ellipse">
            <a:avLst/>
          </a:prstGeom>
          <a:solidFill>
            <a:srgbClr val="6F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52728" y="5087416"/>
            <a:ext cx="5486400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1" spc="170">
                <a:solidFill>
                  <a:srgbClr val="6F93FF"/>
                </a:solidFill>
                <a:latin typeface="Arial"/>
              </a:rPr>
              <a:t>AND ALSO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5405628"/>
            <a:ext cx="10052273" cy="7391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Arial"/>
              </a:rPr>
              <a:t>Adaptive Reviews cut AI cost; Livi learns from reviews; CLI, IDE, MCP and API</a:t>
            </a:r>
          </a:p>
          <a:p>
            <a:pPr algn="l">
              <a:lnSpc>
                <a:spcPct val="118000"/>
              </a:lnSpc>
            </a:pPr>
            <a:r>
              <a:rPr sz="2100" b="1">
                <a:solidFill>
                  <a:srgbClr val="FFFFFF"/>
                </a:solidFill>
                <a:latin typeface="Arial"/>
              </a:rPr>
              <a:t>fit your workflow.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0895" y="434340"/>
            <a:ext cx="18041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03  — 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8113" cy="492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Ask Livi about your own codebase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34592"/>
            <a:ext cx="11058113" cy="339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Reviews, trends, adoption and billing — answered from your data, inside your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5799" y="1888363"/>
            <a:ext cx="9120369" cy="4526153"/>
          </a:xfrm>
          <a:prstGeom prst="roundRect">
            <a:avLst>
              <a:gd name="adj" fmla="val 2020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livi_chat_bo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7803" y="1920367"/>
            <a:ext cx="9056361" cy="4462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0895" y="434340"/>
            <a:ext cx="18041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03  — 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7306"/>
            <a:ext cx="3310128" cy="8463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Onboarding,</a:t>
            </a:r>
          </a:p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73362"/>
            <a:ext cx="3310128" cy="5726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A generated report on how your organisation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actually adopted LiveReview.</a:t>
            </a:r>
          </a:p>
        </p:txBody>
      </p:sp>
      <p:sp>
        <p:nvSpPr>
          <p:cNvPr id="8" name="Oval 7"/>
          <p:cNvSpPr/>
          <p:nvPr/>
        </p:nvSpPr>
        <p:spPr>
          <a:xfrm>
            <a:off x="580644" y="3615753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7" y="3547173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7 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821493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adoption, repositories, engineers, quality</a:t>
            </a:r>
          </a:p>
        </p:txBody>
      </p:sp>
      <p:sp>
        <p:nvSpPr>
          <p:cNvPr id="11" name="Oval 10"/>
          <p:cNvSpPr/>
          <p:nvPr/>
        </p:nvSpPr>
        <p:spPr>
          <a:xfrm>
            <a:off x="580644" y="4259897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4191317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Cost &amp;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465637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what review actually costs you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" y="4904041"/>
            <a:ext cx="96012" cy="96012"/>
          </a:xfrm>
          <a:prstGeom prst="ellipse">
            <a:avLst/>
          </a:prstGeom>
          <a:solidFill>
            <a:srgbClr val="1D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4835461"/>
            <a:ext cx="3035808" cy="334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EEFC"/>
                </a:solidFill>
                <a:latin typeface="Arial"/>
              </a:rPr>
              <a:t>Engagement &amp;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109781"/>
            <a:ext cx="3035808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8B99B8"/>
                </a:solidFill>
                <a:latin typeface="Arial"/>
              </a:rPr>
              <a:t>are findings being acted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540" y="1824841"/>
            <a:ext cx="7336505" cy="3647228"/>
          </a:xfrm>
          <a:prstGeom prst="roundRect">
            <a:avLst>
              <a:gd name="adj" fmla="val 2507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onboarding_repor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52544" y="1856845"/>
            <a:ext cx="7272497" cy="3583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0895" y="434340"/>
            <a:ext cx="1804146" cy="267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sz="1050" b="1" spc="160">
                <a:solidFill>
                  <a:srgbClr val="8B99B8"/>
                </a:solidFill>
                <a:latin typeface="Arial"/>
              </a:rPr>
              <a:t>ACT 03  — 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8113" cy="492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Everything from one top 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34592"/>
            <a:ext cx="11058113" cy="339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Reviews, Explore, Providers, Reports and Settings — start a review from the UI, CLI, MCP or chatbot.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5799" y="1888363"/>
            <a:ext cx="9120369" cy="4526153"/>
          </a:xfrm>
          <a:prstGeom prst="roundRect">
            <a:avLst>
              <a:gd name="adj" fmla="val 2020"/>
            </a:avLst>
          </a:prstGeom>
          <a:noFill/>
          <a:ln w="15875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all_features_navig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7803" y="1920367"/>
            <a:ext cx="9056361" cy="4462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4048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6052"/>
            <a:ext cx="2011680" cy="297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 spc="30">
                <a:solidFill>
                  <a:srgbClr val="E8EEFC"/>
                </a:solidFill>
                <a:latin typeface="Arial"/>
              </a:rPr>
              <a:t>LiveReview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515600" cy="679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Three problems. One reviewer.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3441801" cy="2008251"/>
          </a:xfrm>
          <a:prstGeom prst="roundRect">
            <a:avLst>
              <a:gd name="adj" fmla="val 5463"/>
            </a:avLst>
          </a:prstGeom>
          <a:solidFill>
            <a:srgbClr val="0E1322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670048"/>
            <a:ext cx="914400" cy="319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1" spc="100">
                <a:solidFill>
                  <a:srgbClr val="6F93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62656"/>
            <a:ext cx="2783433" cy="364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310128"/>
            <a:ext cx="2783433" cy="5829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Every hunk ranked by blast radius</a:t>
            </a:r>
          </a:p>
          <a:p>
            <a:pPr algn="l">
              <a:lnSpc>
                <a:spcPct val="138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and review priority.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4489" y="2377440"/>
            <a:ext cx="3441801" cy="2008251"/>
          </a:xfrm>
          <a:prstGeom prst="roundRect">
            <a:avLst>
              <a:gd name="adj" fmla="val 5463"/>
            </a:avLst>
          </a:prstGeom>
          <a:solidFill>
            <a:srgbClr val="0E1322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03673" y="2670048"/>
            <a:ext cx="914400" cy="319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1" spc="100">
                <a:solidFill>
                  <a:srgbClr val="6F93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3673" y="2962656"/>
            <a:ext cx="2783433" cy="364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3673" y="3310128"/>
            <a:ext cx="2783433" cy="819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Reviews at commit, push, PR, CI/CD</a:t>
            </a:r>
          </a:p>
          <a:p>
            <a:pPr algn="l">
              <a:lnSpc>
                <a:spcPct val="138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and on schedule, enforcing your</a:t>
            </a:r>
          </a:p>
          <a:p>
            <a:pPr algn="l">
              <a:lnSpc>
                <a:spcPct val="138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2051" y="2377440"/>
            <a:ext cx="3441801" cy="2008251"/>
          </a:xfrm>
          <a:prstGeom prst="roundRect">
            <a:avLst>
              <a:gd name="adj" fmla="val 5463"/>
            </a:avLst>
          </a:prstGeom>
          <a:solidFill>
            <a:srgbClr val="0E1322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11235" y="2670048"/>
            <a:ext cx="914400" cy="319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1" spc="100">
                <a:solidFill>
                  <a:srgbClr val="6F93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1235" y="2962656"/>
            <a:ext cx="2783433" cy="364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1235" y="3310128"/>
            <a:ext cx="2783433" cy="819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Your code stays in your</a:t>
            </a:r>
          </a:p>
          <a:p>
            <a:pPr algn="l">
              <a:lnSpc>
                <a:spcPct val="138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infrastructure, and you pick the AI</a:t>
            </a:r>
          </a:p>
          <a:p>
            <a:pPr algn="l">
              <a:lnSpc>
                <a:spcPct val="138000"/>
              </a:lnSpc>
            </a:pPr>
            <a:r>
              <a:rPr sz="1350" b="0">
                <a:solidFill>
                  <a:srgbClr val="8B99B8"/>
                </a:solidFill>
                <a:latin typeface="Arial"/>
              </a:rPr>
              <a:t>models that inspect it.</a:t>
            </a: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861179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4966335"/>
            <a:ext cx="5486400" cy="3195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E8EEFC"/>
                </a:solidFill>
                <a:latin typeface="Arial"/>
              </a:rPr>
              <a:t>hexmos.com/livereview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