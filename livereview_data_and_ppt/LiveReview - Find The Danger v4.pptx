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6858000" cx="1219195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fbec604cbd_1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g3fbec604cbd_1_7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he95dd79bc7ebba1_0_1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he95dd79bc7ebba1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5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7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4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3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Relationship Id="rId4" Type="http://schemas.openxmlformats.org/officeDocument/2006/relationships/image" Target="../media/image6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685800" y="1026207"/>
            <a:ext cx="10607100" cy="12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sng">
                <a:solidFill>
                  <a:srgbClr val="DC2626"/>
                </a:solidFill>
                <a:latin typeface="Arial"/>
                <a:ea typeface="Arial"/>
                <a:cs typeface="Arial"/>
                <a:sym typeface="Arial"/>
              </a:rPr>
              <a:t>Blast-Radius Aware</a:t>
            </a:r>
            <a:r>
              <a:rPr b="1" i="0" lang="en-US" sz="40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 AI Code Review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40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for </a:t>
            </a:r>
            <a:r>
              <a:rPr b="1" i="0" lang="en-US" sz="4000" u="sng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Business-Critical Systems</a:t>
            </a:r>
            <a:r>
              <a:rPr b="1" i="0" lang="en-US" sz="40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sp>
        <p:nvSpPr>
          <p:cNvPr id="85" name="Google Shape;85;p13"/>
          <p:cNvSpPr txBox="1"/>
          <p:nvPr/>
        </p:nvSpPr>
        <p:spPr>
          <a:xfrm>
            <a:off x="685800" y="2788920"/>
            <a:ext cx="69495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Your team's attention is limited. Spend review effort where </a:t>
            </a:r>
            <a:r>
              <a:rPr b="1" i="0" lang="en-US" sz="15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business risk is highest</a:t>
            </a:r>
            <a:r>
              <a:rPr b="0" i="0" lang="en-US" sz="150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00">
                <a:solidFill>
                  <a:srgbClr val="4B5563"/>
                </a:solidFill>
              </a:rPr>
              <a:t>—</a:t>
            </a:r>
            <a:r>
              <a:rPr b="0" i="0" lang="en-US" sz="150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 not spread evenly across every diff.</a:t>
            </a:r>
            <a:endParaRPr/>
          </a:p>
        </p:txBody>
      </p:sp>
      <p:sp>
        <p:nvSpPr>
          <p:cNvPr id="86" name="Google Shape;86;p13"/>
          <p:cNvSpPr/>
          <p:nvPr/>
        </p:nvSpPr>
        <p:spPr>
          <a:xfrm>
            <a:off x="685800" y="3794760"/>
            <a:ext cx="7360920" cy="1051560"/>
          </a:xfrm>
          <a:prstGeom prst="roundRect">
            <a:avLst>
              <a:gd fmla="val 4500" name="adj"/>
            </a:avLst>
          </a:prstGeom>
          <a:noFill/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3"/>
          <p:cNvSpPr/>
          <p:nvPr/>
        </p:nvSpPr>
        <p:spPr>
          <a:xfrm>
            <a:off x="768096" y="3877056"/>
            <a:ext cx="3598164" cy="886968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3"/>
          <p:cNvSpPr/>
          <p:nvPr/>
        </p:nvSpPr>
        <p:spPr>
          <a:xfrm>
            <a:off x="4366260" y="3877056"/>
            <a:ext cx="3598164" cy="886968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3"/>
          <p:cNvSpPr/>
          <p:nvPr/>
        </p:nvSpPr>
        <p:spPr>
          <a:xfrm>
            <a:off x="685800" y="3794760"/>
            <a:ext cx="7360920" cy="1051560"/>
          </a:xfrm>
          <a:prstGeom prst="roundRect">
            <a:avLst>
              <a:gd fmla="val 4500" name="adj"/>
            </a:avLst>
          </a:prstGeom>
          <a:noFill/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0" name="Google Shape;90;p13"/>
          <p:cNvCxnSpPr/>
          <p:nvPr/>
        </p:nvCxnSpPr>
        <p:spPr>
          <a:xfrm>
            <a:off x="4366260" y="3886200"/>
            <a:ext cx="0" cy="868680"/>
          </a:xfrm>
          <a:prstGeom prst="straightConnector1">
            <a:avLst/>
          </a:prstGeom>
          <a:noFill/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91" name="Google Shape;91;p13"/>
          <p:cNvSpPr/>
          <p:nvPr/>
        </p:nvSpPr>
        <p:spPr>
          <a:xfrm>
            <a:off x="4174236" y="4128516"/>
            <a:ext cx="384048" cy="384048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vs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978408" y="3931920"/>
            <a:ext cx="3113532" cy="8229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300</a:t>
            </a:r>
            <a:r>
              <a:rPr b="1" i="0" lang="en-US" sz="9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 LINE UI TWEAK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Breaks one page.</a:t>
            </a:r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4658868" y="3931920"/>
            <a:ext cx="3159252" cy="8229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>
                <a:solidFill>
                  <a:srgbClr val="DC2626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b="1" i="0" lang="en-US" sz="900">
                <a:solidFill>
                  <a:srgbClr val="DC2626"/>
                </a:solidFill>
                <a:latin typeface="Arial"/>
                <a:ea typeface="Arial"/>
                <a:cs typeface="Arial"/>
                <a:sym typeface="Arial"/>
              </a:rPr>
              <a:t>  LINE DB CHANGE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rgbClr val="DC2626"/>
                </a:solidFill>
                <a:latin typeface="Arial"/>
                <a:ea typeface="Arial"/>
                <a:cs typeface="Arial"/>
                <a:sym typeface="Arial"/>
              </a:rPr>
              <a:t>Breaks the entire app.</a:t>
            </a:r>
            <a:endParaRPr/>
          </a:p>
        </p:txBody>
      </p:sp>
      <p:sp>
        <p:nvSpPr>
          <p:cNvPr id="94" name="Google Shape;94;p13"/>
          <p:cNvSpPr txBox="1"/>
          <p:nvPr/>
        </p:nvSpPr>
        <p:spPr>
          <a:xfrm>
            <a:off x="685800" y="5166360"/>
            <a:ext cx="73609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Not all diffs are created equal — so we score and sort every piece of a diff by its </a:t>
            </a:r>
            <a:r>
              <a:rPr b="1" i="0" lang="en-US" sz="13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blast radius</a:t>
            </a:r>
            <a:r>
              <a:rPr b="0" i="0" lang="en-US" sz="130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logo.png" id="99" name="Google Shape;9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6928" y="38404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4"/>
          <p:cNvSpPr txBox="1"/>
          <p:nvPr/>
        </p:nvSpPr>
        <p:spPr>
          <a:xfrm>
            <a:off x="914400" y="429768"/>
            <a:ext cx="2011680" cy="2970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5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LiveReview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611815" y="931962"/>
            <a:ext cx="110580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AI writes code far faster than your team can review it.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567003" y="1830494"/>
            <a:ext cx="110580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So which changes deserve your engineers' scarce attention?</a:t>
            </a:r>
            <a:endParaRPr/>
          </a:p>
        </p:txBody>
      </p:sp>
      <p:sp>
        <p:nvSpPr>
          <p:cNvPr id="103" name="Google Shape;103;p14"/>
          <p:cNvSpPr/>
          <p:nvPr/>
        </p:nvSpPr>
        <p:spPr>
          <a:xfrm>
            <a:off x="649115" y="2759240"/>
            <a:ext cx="11058000" cy="1414200"/>
          </a:xfrm>
          <a:prstGeom prst="roundRect">
            <a:avLst>
              <a:gd fmla="val 6465" name="adj"/>
            </a:avLst>
          </a:prstGeom>
          <a:solidFill>
            <a:srgbClr val="EEF3F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4"/>
          <p:cNvSpPr txBox="1"/>
          <p:nvPr/>
        </p:nvSpPr>
        <p:spPr>
          <a:xfrm>
            <a:off x="1014875" y="3243897"/>
            <a:ext cx="10326600" cy="44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LiveReview ranks every hunk by blast radius and review priority.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logo.png" id="109" name="Google Shape;10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6928" y="38404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5"/>
          <p:cNvSpPr txBox="1"/>
          <p:nvPr/>
        </p:nvSpPr>
        <p:spPr>
          <a:xfrm>
            <a:off x="914400" y="429768"/>
            <a:ext cx="2011680" cy="2970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5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LiveReview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604275" y="938025"/>
            <a:ext cx="8126400" cy="129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Blast radius tells you</a:t>
            </a:r>
            <a:r>
              <a:rPr lang="en-US"/>
              <a:t> </a:t>
            </a:r>
            <a:r>
              <a:rPr b="1" lang="en-US" sz="26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what to read first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604278" y="1832897"/>
            <a:ext cx="3310200" cy="8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Each hunk is scored from measurable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signals, so the riskiest change sits at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the top of the review.</a:t>
            </a:r>
            <a:endParaRPr/>
          </a:p>
        </p:txBody>
      </p:sp>
      <p:pic>
        <p:nvPicPr>
          <p:cNvPr id="113" name="Google Shape;113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28475" y="1832899"/>
            <a:ext cx="7737624" cy="3812399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/>
          <p:nvPr/>
        </p:nvSpPr>
        <p:spPr>
          <a:xfrm>
            <a:off x="656569" y="3268734"/>
            <a:ext cx="91500" cy="91500"/>
          </a:xfrm>
          <a:prstGeom prst="ellipse">
            <a:avLst/>
          </a:prstGeom>
          <a:solidFill>
            <a:srgbClr val="1D56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5"/>
          <p:cNvSpPr txBox="1"/>
          <p:nvPr/>
        </p:nvSpPr>
        <p:spPr>
          <a:xfrm>
            <a:off x="917172" y="3195582"/>
            <a:ext cx="3035700" cy="3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11827"/>
                </a:solidFill>
              </a:rPr>
              <a:t>Visualize blast radius at a glance</a:t>
            </a:r>
            <a:endParaRPr/>
          </a:p>
        </p:txBody>
      </p:sp>
      <p:sp>
        <p:nvSpPr>
          <p:cNvPr id="116" name="Google Shape;116;p15"/>
          <p:cNvSpPr/>
          <p:nvPr/>
        </p:nvSpPr>
        <p:spPr>
          <a:xfrm>
            <a:off x="656569" y="3968885"/>
            <a:ext cx="91500" cy="91500"/>
          </a:xfrm>
          <a:prstGeom prst="ellipse">
            <a:avLst/>
          </a:prstGeom>
          <a:solidFill>
            <a:srgbClr val="1D56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5"/>
          <p:cNvSpPr txBox="1"/>
          <p:nvPr/>
        </p:nvSpPr>
        <p:spPr>
          <a:xfrm>
            <a:off x="917172" y="3895733"/>
            <a:ext cx="3035700" cy="3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11827"/>
                </a:solidFill>
              </a:rPr>
              <a:t>Every factor that feeds the score</a:t>
            </a:r>
            <a:endParaRPr/>
          </a:p>
        </p:txBody>
      </p:sp>
      <p:sp>
        <p:nvSpPr>
          <p:cNvPr id="118" name="Google Shape;118;p15"/>
          <p:cNvSpPr/>
          <p:nvPr/>
        </p:nvSpPr>
        <p:spPr>
          <a:xfrm>
            <a:off x="656569" y="4669036"/>
            <a:ext cx="91500" cy="91500"/>
          </a:xfrm>
          <a:prstGeom prst="ellipse">
            <a:avLst/>
          </a:prstGeom>
          <a:solidFill>
            <a:srgbClr val="1D56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5"/>
          <p:cNvSpPr txBox="1"/>
          <p:nvPr/>
        </p:nvSpPr>
        <p:spPr>
          <a:xfrm>
            <a:off x="917172" y="4595884"/>
            <a:ext cx="3035700" cy="3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11827"/>
                </a:solidFill>
              </a:rPr>
              <a:t>The exact math, not a black box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logo.png" id="124" name="Google Shape;12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6928" y="38404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6"/>
          <p:cNvSpPr txBox="1"/>
          <p:nvPr/>
        </p:nvSpPr>
        <p:spPr>
          <a:xfrm>
            <a:off x="914400" y="429768"/>
            <a:ext cx="2011680" cy="2970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5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LiveReview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566928" y="954387"/>
            <a:ext cx="11058000" cy="104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 standard is useless when every engineer must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remember to enforce it.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566928" y="2753529"/>
            <a:ext cx="110580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How do you make good review happen every time without slowing the team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down?</a:t>
            </a:r>
            <a:endParaRPr/>
          </a:p>
        </p:txBody>
      </p:sp>
      <p:sp>
        <p:nvSpPr>
          <p:cNvPr id="128" name="Google Shape;128;p16"/>
          <p:cNvSpPr/>
          <p:nvPr/>
        </p:nvSpPr>
        <p:spPr>
          <a:xfrm>
            <a:off x="492203" y="4565710"/>
            <a:ext cx="11058000" cy="1749600"/>
          </a:xfrm>
          <a:prstGeom prst="roundRect">
            <a:avLst>
              <a:gd fmla="val 5226" name="adj"/>
            </a:avLst>
          </a:prstGeom>
          <a:solidFill>
            <a:srgbClr val="EEF3F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6"/>
          <p:cNvSpPr txBox="1"/>
          <p:nvPr/>
        </p:nvSpPr>
        <p:spPr>
          <a:xfrm>
            <a:off x="992438" y="4980117"/>
            <a:ext cx="10326600" cy="7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Commit, push, MR/PR, CI/CD and scheduled checks</a:t>
            </a:r>
            <a:endParaRPr b="1" sz="2200">
              <a:solidFill>
                <a:srgbClr val="11182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enforce your standards on every change.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logo.png" id="134" name="Google Shape;13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6928" y="384048"/>
            <a:ext cx="274319" cy="274319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7"/>
          <p:cNvSpPr txBox="1"/>
          <p:nvPr/>
        </p:nvSpPr>
        <p:spPr>
          <a:xfrm>
            <a:off x="914400" y="429768"/>
            <a:ext cx="20118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5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LiveReview</a:t>
            </a:r>
            <a:endParaRPr/>
          </a:p>
        </p:txBody>
      </p:sp>
      <p:sp>
        <p:nvSpPr>
          <p:cNvPr id="136" name="Google Shape;136;p17"/>
          <p:cNvSpPr txBox="1"/>
          <p:nvPr/>
        </p:nvSpPr>
        <p:spPr>
          <a:xfrm>
            <a:off x="566926" y="919950"/>
            <a:ext cx="7267200" cy="86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600">
                <a:solidFill>
                  <a:srgbClr val="111827"/>
                </a:solidFill>
              </a:rPr>
              <a:t>Pick the Right Review Depth Based on Your Need for Shipping Speed</a:t>
            </a:r>
            <a:endParaRPr b="1" sz="2600">
              <a:solidFill>
                <a:srgbClr val="111827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600">
              <a:solidFill>
                <a:srgbClr val="111827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600">
              <a:solidFill>
                <a:srgbClr val="111827"/>
              </a:solidFill>
            </a:endParaRPr>
          </a:p>
        </p:txBody>
      </p:sp>
      <p:sp>
        <p:nvSpPr>
          <p:cNvPr id="137" name="Google Shape;137;p17"/>
          <p:cNvSpPr/>
          <p:nvPr/>
        </p:nvSpPr>
        <p:spPr>
          <a:xfrm>
            <a:off x="529544" y="3276209"/>
            <a:ext cx="91500" cy="91500"/>
          </a:xfrm>
          <a:prstGeom prst="ellipse">
            <a:avLst/>
          </a:prstGeom>
          <a:solidFill>
            <a:srgbClr val="1D56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7"/>
          <p:cNvSpPr txBox="1"/>
          <p:nvPr/>
        </p:nvSpPr>
        <p:spPr>
          <a:xfrm>
            <a:off x="790150" y="3203050"/>
            <a:ext cx="4965900" cy="3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1500">
                <a:solidFill>
                  <a:srgbClr val="111827"/>
                </a:solidFill>
              </a:rPr>
              <a:t>Commit Only: fastest, lightest net. Fine for low-stakes repos.</a:t>
            </a:r>
            <a:endParaRPr b="1" sz="1500">
              <a:solidFill>
                <a:srgbClr val="111827"/>
              </a:solidFill>
            </a:endParaRPr>
          </a:p>
        </p:txBody>
      </p:sp>
      <p:sp>
        <p:nvSpPr>
          <p:cNvPr id="139" name="Google Shape;139;p17"/>
          <p:cNvSpPr/>
          <p:nvPr/>
        </p:nvSpPr>
        <p:spPr>
          <a:xfrm>
            <a:off x="529544" y="3976360"/>
            <a:ext cx="91500" cy="91500"/>
          </a:xfrm>
          <a:prstGeom prst="ellipse">
            <a:avLst/>
          </a:prstGeom>
          <a:solidFill>
            <a:srgbClr val="1D56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7"/>
          <p:cNvSpPr txBox="1"/>
          <p:nvPr/>
        </p:nvSpPr>
        <p:spPr>
          <a:xfrm>
            <a:off x="790150" y="3903200"/>
            <a:ext cx="7947300" cy="3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11827"/>
                </a:solidFill>
              </a:rPr>
              <a:t>Commit + Scheduled: the startup pick. A daily sweep that catches anything that slipped past commit-time checks.</a:t>
            </a:r>
            <a:endParaRPr/>
          </a:p>
        </p:txBody>
      </p:sp>
      <p:sp>
        <p:nvSpPr>
          <p:cNvPr id="141" name="Google Shape;141;p17"/>
          <p:cNvSpPr/>
          <p:nvPr/>
        </p:nvSpPr>
        <p:spPr>
          <a:xfrm>
            <a:off x="529544" y="4676511"/>
            <a:ext cx="91500" cy="91500"/>
          </a:xfrm>
          <a:prstGeom prst="ellipse">
            <a:avLst/>
          </a:prstGeom>
          <a:solidFill>
            <a:srgbClr val="1D56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7"/>
          <p:cNvSpPr txBox="1"/>
          <p:nvPr/>
        </p:nvSpPr>
        <p:spPr>
          <a:xfrm>
            <a:off x="790155" y="4603350"/>
            <a:ext cx="7996800" cy="3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1500">
                <a:solidFill>
                  <a:srgbClr val="111827"/>
                </a:solidFill>
              </a:rPr>
              <a:t>Commit + Before Push + MR/PR: the standard team flow. A human sees every change before it merges.</a:t>
            </a:r>
            <a:endParaRPr b="1" sz="1500">
              <a:solidFill>
                <a:srgbClr val="111827"/>
              </a:solidFill>
            </a:endParaRPr>
          </a:p>
        </p:txBody>
      </p:sp>
      <p:sp>
        <p:nvSpPr>
          <p:cNvPr id="143" name="Google Shape;143;p17"/>
          <p:cNvSpPr/>
          <p:nvPr/>
        </p:nvSpPr>
        <p:spPr>
          <a:xfrm>
            <a:off x="566919" y="5376659"/>
            <a:ext cx="91500" cy="91500"/>
          </a:xfrm>
          <a:prstGeom prst="ellipse">
            <a:avLst/>
          </a:prstGeom>
          <a:solidFill>
            <a:srgbClr val="1D56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7"/>
          <p:cNvSpPr txBox="1"/>
          <p:nvPr/>
        </p:nvSpPr>
        <p:spPr>
          <a:xfrm>
            <a:off x="827525" y="5303500"/>
            <a:ext cx="7267200" cy="3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500">
                <a:solidFill>
                  <a:srgbClr val="111827"/>
                </a:solidFill>
              </a:rPr>
              <a:t>All Five (Full Harness): maximum coverage, for repos where a bad change is expensive: payments, auth, core infra.</a:t>
            </a:r>
            <a:endParaRPr b="1" sz="1500">
              <a:solidFill>
                <a:srgbClr val="111827"/>
              </a:solidFill>
            </a:endParaRPr>
          </a:p>
          <a:p>
            <a:pPr indent="0" lvl="0" marL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500">
              <a:solidFill>
                <a:srgbClr val="111827"/>
              </a:solidFill>
            </a:endParaRPr>
          </a:p>
          <a:p>
            <a:pPr indent="0" lvl="0" marL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 sz="15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8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ogo.png" id="150" name="Google Shape;15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6928" y="38404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8"/>
          <p:cNvSpPr txBox="1"/>
          <p:nvPr/>
        </p:nvSpPr>
        <p:spPr>
          <a:xfrm>
            <a:off x="914400" y="429768"/>
            <a:ext cx="2011680" cy="2970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5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LiveReview</a:t>
            </a:r>
            <a:endParaRPr/>
          </a:p>
        </p:txBody>
      </p:sp>
      <p:sp>
        <p:nvSpPr>
          <p:cNvPr id="152" name="Google Shape;152;p18"/>
          <p:cNvSpPr txBox="1"/>
          <p:nvPr/>
        </p:nvSpPr>
        <p:spPr>
          <a:xfrm>
            <a:off x="566915" y="921192"/>
            <a:ext cx="11058000" cy="51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 gate your pipeline can call</a:t>
            </a:r>
            <a:endParaRPr/>
          </a:p>
        </p:txBody>
      </p:sp>
      <p:sp>
        <p:nvSpPr>
          <p:cNvPr id="153" name="Google Shape;153;p18"/>
          <p:cNvSpPr txBox="1"/>
          <p:nvPr/>
        </p:nvSpPr>
        <p:spPr>
          <a:xfrm>
            <a:off x="566925" y="1835375"/>
            <a:ext cx="2628000" cy="16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Write a jq rule over a review's findings, save it, and call one URL from any CI/CD pipeline to block or allow the build.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Works on every review source (web, git-lrc, CI/CD, API/MCP), so one gate covers every path to a merge.</a:t>
            </a:r>
            <a:endParaRPr/>
          </a:p>
        </p:txBody>
      </p:sp>
      <p:pic>
        <p:nvPicPr>
          <p:cNvPr id="154" name="Google Shape;154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50400" y="1835382"/>
            <a:ext cx="8503469" cy="41897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logo.png" id="159" name="Google Shape;159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6928" y="38404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>
            <a:off x="914400" y="429768"/>
            <a:ext cx="2011680" cy="2970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5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LiveReview</a:t>
            </a:r>
            <a:endParaRPr/>
          </a:p>
        </p:txBody>
      </p:sp>
      <p:sp>
        <p:nvSpPr>
          <p:cNvPr id="161" name="Google Shape;161;p19"/>
          <p:cNvSpPr txBox="1"/>
          <p:nvPr/>
        </p:nvSpPr>
        <p:spPr>
          <a:xfrm>
            <a:off x="566915" y="917980"/>
            <a:ext cx="11058000" cy="51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The review reads like a </a:t>
            </a:r>
            <a:r>
              <a:rPr b="1" lang="en-US" sz="28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briefing</a:t>
            </a:r>
            <a:endParaRPr/>
          </a:p>
        </p:txBody>
      </p:sp>
      <p:sp>
        <p:nvSpPr>
          <p:cNvPr id="162" name="Google Shape;162;p19"/>
          <p:cNvSpPr txBox="1"/>
          <p:nvPr/>
        </p:nvSpPr>
        <p:spPr>
          <a:xfrm>
            <a:off x="529550" y="1835919"/>
            <a:ext cx="11058000" cy="55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374151"/>
                </a:solidFill>
              </a:rPr>
              <a:t>Every review ships with a 60-second deck:</a:t>
            </a:r>
            <a:endParaRPr sz="1500">
              <a:solidFill>
                <a:srgbClr val="374151"/>
              </a:solidFill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374151"/>
                </a:solidFill>
              </a:rPr>
              <a:t>what was implemented, why, and which</a:t>
            </a:r>
            <a:endParaRPr sz="1500">
              <a:solidFill>
                <a:srgbClr val="374151"/>
              </a:solidFill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374151"/>
                </a:solidFill>
              </a:rPr>
              <a:t>risks were flagged. Slides, not a wall of diff.</a:t>
            </a:r>
            <a:endParaRPr/>
          </a:p>
        </p:txBody>
      </p:sp>
      <p:pic>
        <p:nvPicPr>
          <p:cNvPr id="163" name="Google Shape;163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26650" y="2263944"/>
            <a:ext cx="5448645" cy="4157781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9"/>
          <p:cNvSpPr/>
          <p:nvPr/>
        </p:nvSpPr>
        <p:spPr>
          <a:xfrm>
            <a:off x="529544" y="3276209"/>
            <a:ext cx="91500" cy="91500"/>
          </a:xfrm>
          <a:prstGeom prst="ellipse">
            <a:avLst/>
          </a:prstGeom>
          <a:solidFill>
            <a:srgbClr val="1D56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>
            <a:off x="790147" y="3203057"/>
            <a:ext cx="3035700" cy="3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1500">
                <a:solidFill>
                  <a:srgbClr val="111827"/>
                </a:solidFill>
              </a:rPr>
              <a:t>60-second slide summary</a:t>
            </a:r>
            <a:endParaRPr b="1" sz="1500">
              <a:solidFill>
                <a:srgbClr val="111827"/>
              </a:solidFill>
            </a:endParaRPr>
          </a:p>
        </p:txBody>
      </p:sp>
      <p:sp>
        <p:nvSpPr>
          <p:cNvPr id="166" name="Google Shape;166;p19"/>
          <p:cNvSpPr/>
          <p:nvPr/>
        </p:nvSpPr>
        <p:spPr>
          <a:xfrm>
            <a:off x="529544" y="3976360"/>
            <a:ext cx="91500" cy="91500"/>
          </a:xfrm>
          <a:prstGeom prst="ellipse">
            <a:avLst/>
          </a:prstGeom>
          <a:solidFill>
            <a:srgbClr val="1D56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9"/>
          <p:cNvSpPr txBox="1"/>
          <p:nvPr/>
        </p:nvSpPr>
        <p:spPr>
          <a:xfrm>
            <a:off x="790150" y="3903200"/>
            <a:ext cx="3465600" cy="3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11827"/>
                </a:solidFill>
              </a:rPr>
              <a:t>Ready to copy-paste PR summary</a:t>
            </a:r>
            <a:endParaRPr/>
          </a:p>
        </p:txBody>
      </p:sp>
      <p:sp>
        <p:nvSpPr>
          <p:cNvPr id="168" name="Google Shape;168;p19"/>
          <p:cNvSpPr/>
          <p:nvPr/>
        </p:nvSpPr>
        <p:spPr>
          <a:xfrm>
            <a:off x="529544" y="4676511"/>
            <a:ext cx="91500" cy="91500"/>
          </a:xfrm>
          <a:prstGeom prst="ellipse">
            <a:avLst/>
          </a:prstGeom>
          <a:solidFill>
            <a:srgbClr val="1D56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9"/>
          <p:cNvSpPr txBox="1"/>
          <p:nvPr/>
        </p:nvSpPr>
        <p:spPr>
          <a:xfrm>
            <a:off x="790147" y="4603359"/>
            <a:ext cx="3035700" cy="3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11827"/>
                </a:solidFill>
              </a:rPr>
              <a:t>Quiz on the diff to reinforce understanding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logo.png" id="174" name="Google Shape;174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6928" y="38404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20"/>
          <p:cNvSpPr txBox="1"/>
          <p:nvPr/>
        </p:nvSpPr>
        <p:spPr>
          <a:xfrm>
            <a:off x="914400" y="429768"/>
            <a:ext cx="2011680" cy="2970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5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LiveReview</a:t>
            </a:r>
            <a:endParaRPr/>
          </a:p>
        </p:txBody>
      </p:sp>
      <p:sp>
        <p:nvSpPr>
          <p:cNvPr id="176" name="Google Shape;176;p20"/>
          <p:cNvSpPr txBox="1"/>
          <p:nvPr/>
        </p:nvSpPr>
        <p:spPr>
          <a:xfrm>
            <a:off x="566978" y="931962"/>
            <a:ext cx="11058000" cy="15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Other reviewers send your code outside your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infrastructure, and seat-based monthly pricing can get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expensive.</a:t>
            </a:r>
            <a:endParaRPr/>
          </a:p>
        </p:txBody>
      </p:sp>
      <p:sp>
        <p:nvSpPr>
          <p:cNvPr id="177" name="Google Shape;177;p20"/>
          <p:cNvSpPr txBox="1"/>
          <p:nvPr/>
        </p:nvSpPr>
        <p:spPr>
          <a:xfrm>
            <a:off x="529565" y="3191239"/>
            <a:ext cx="110580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Self-host it: your code goes straight to the AI provider you choose.</a:t>
            </a:r>
            <a:endParaRPr/>
          </a:p>
        </p:txBody>
      </p:sp>
      <p:sp>
        <p:nvSpPr>
          <p:cNvPr id="178" name="Google Shape;178;p20"/>
          <p:cNvSpPr/>
          <p:nvPr/>
        </p:nvSpPr>
        <p:spPr>
          <a:xfrm>
            <a:off x="566965" y="4573185"/>
            <a:ext cx="11058000" cy="1749600"/>
          </a:xfrm>
          <a:prstGeom prst="roundRect">
            <a:avLst>
              <a:gd fmla="val 5226" name="adj"/>
            </a:avLst>
          </a:prstGeom>
          <a:solidFill>
            <a:srgbClr val="EEF3F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20"/>
          <p:cNvSpPr txBox="1"/>
          <p:nvPr/>
        </p:nvSpPr>
        <p:spPr>
          <a:xfrm>
            <a:off x="932725" y="5057805"/>
            <a:ext cx="10326600" cy="7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Pay per reviewed LOC, not per seat; Adaptive Reviews cut AI cost;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CLI, IDE, MCP and API fit your workflow.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2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ogo.png" id="189" name="Google Shape;189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6928" y="38404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22"/>
          <p:cNvSpPr txBox="1"/>
          <p:nvPr/>
        </p:nvSpPr>
        <p:spPr>
          <a:xfrm>
            <a:off x="914400" y="429768"/>
            <a:ext cx="2011680" cy="2970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5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LiveReview</a:t>
            </a:r>
            <a:endParaRPr/>
          </a:p>
        </p:txBody>
      </p:sp>
      <p:sp>
        <p:nvSpPr>
          <p:cNvPr id="191" name="Google Shape;191;p22"/>
          <p:cNvSpPr txBox="1"/>
          <p:nvPr/>
        </p:nvSpPr>
        <p:spPr>
          <a:xfrm>
            <a:off x="566928" y="921192"/>
            <a:ext cx="11058000" cy="51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11827"/>
                </a:solidFill>
              </a:rPr>
              <a:t>Jump anywhere with Ctrl + K</a:t>
            </a:r>
            <a:endParaRPr/>
          </a:p>
        </p:txBody>
      </p:sp>
      <p:sp>
        <p:nvSpPr>
          <p:cNvPr id="192" name="Google Shape;192;p22"/>
          <p:cNvSpPr txBox="1"/>
          <p:nvPr/>
        </p:nvSpPr>
        <p:spPr>
          <a:xfrm>
            <a:off x="566928" y="1634236"/>
            <a:ext cx="11058113" cy="3573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Reviews, repositories and MRs,</a:t>
            </a:r>
            <a:endParaRPr b="0" sz="1500">
              <a:solidFill>
                <a:srgbClr val="37415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374151"/>
                </a:solidFill>
              </a:rPr>
              <a:t>AI &amp; Git providers, reports</a:t>
            </a:r>
            <a:endParaRPr b="0" sz="1500">
              <a:solidFill>
                <a:srgbClr val="37415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and settings, one keystroke away.</a:t>
            </a:r>
            <a:endParaRPr/>
          </a:p>
        </p:txBody>
      </p:sp>
      <p:pic>
        <p:nvPicPr>
          <p:cNvPr id="193" name="Google Shape;193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00375" y="1678376"/>
            <a:ext cx="7868026" cy="3876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logo.png" id="198" name="Google Shape;198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6928" y="38404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3"/>
          <p:cNvSpPr txBox="1"/>
          <p:nvPr/>
        </p:nvSpPr>
        <p:spPr>
          <a:xfrm>
            <a:off x="914400" y="429768"/>
            <a:ext cx="2011680" cy="2970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5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LiveReview</a:t>
            </a:r>
            <a:endParaRPr/>
          </a:p>
        </p:txBody>
      </p:sp>
      <p:sp>
        <p:nvSpPr>
          <p:cNvPr id="200" name="Google Shape;200;p23"/>
          <p:cNvSpPr txBox="1"/>
          <p:nvPr/>
        </p:nvSpPr>
        <p:spPr>
          <a:xfrm>
            <a:off x="566928" y="921192"/>
            <a:ext cx="11058000" cy="51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11827"/>
                </a:solidFill>
              </a:rPr>
              <a:t>An AI chatbot for your engineering data</a:t>
            </a:r>
            <a:endParaRPr/>
          </a:p>
        </p:txBody>
      </p:sp>
      <p:sp>
        <p:nvSpPr>
          <p:cNvPr id="201" name="Google Shape;201;p23"/>
          <p:cNvSpPr txBox="1"/>
          <p:nvPr/>
        </p:nvSpPr>
        <p:spPr>
          <a:xfrm>
            <a:off x="566925" y="1634140"/>
            <a:ext cx="11058000" cy="31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500">
                <a:solidFill>
                  <a:srgbClr val="374151"/>
                </a:solidFill>
              </a:rPr>
              <a:t>Ask Livi a product, engineering, </a:t>
            </a:r>
            <a:endParaRPr sz="1500">
              <a:solidFill>
                <a:srgbClr val="374151"/>
              </a:solidFill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500">
                <a:solidFill>
                  <a:srgbClr val="374151"/>
                </a:solidFill>
              </a:rPr>
              <a:t>or ops question in plain English. </a:t>
            </a:r>
            <a:endParaRPr sz="1500">
              <a:solidFill>
                <a:srgbClr val="374151"/>
              </a:solidFill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500">
                <a:solidFill>
                  <a:srgbClr val="374151"/>
                </a:solidFill>
              </a:rPr>
              <a:t>It answers with a chart pulled straight </a:t>
            </a:r>
            <a:endParaRPr sz="1500">
              <a:solidFill>
                <a:srgbClr val="374151"/>
              </a:solidFill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500">
                <a:solidFill>
                  <a:srgbClr val="374151"/>
                </a:solidFill>
              </a:rPr>
              <a:t>from your organization's own data, </a:t>
            </a:r>
            <a:endParaRPr sz="1500">
              <a:solidFill>
                <a:srgbClr val="374151"/>
              </a:solidFill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>
                <a:solidFill>
                  <a:srgbClr val="374151"/>
                </a:solidFill>
              </a:rPr>
              <a:t>no dashboards to build, no SQL to write.</a:t>
            </a:r>
            <a:endParaRPr sz="1500">
              <a:solidFill>
                <a:srgbClr val="374151"/>
              </a:solidFill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00">
              <a:solidFill>
                <a:srgbClr val="374151"/>
              </a:solidFill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374151"/>
              </a:solidFill>
            </a:endParaRPr>
          </a:p>
        </p:txBody>
      </p:sp>
      <p:pic>
        <p:nvPicPr>
          <p:cNvPr id="202" name="Google Shape;202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10300" y="1634225"/>
            <a:ext cx="6898651" cy="3844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logo.png" id="207" name="Google Shape;207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6928" y="38404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4"/>
          <p:cNvSpPr txBox="1"/>
          <p:nvPr/>
        </p:nvSpPr>
        <p:spPr>
          <a:xfrm>
            <a:off x="914400" y="429768"/>
            <a:ext cx="2011680" cy="2970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5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LiveReview</a:t>
            </a:r>
            <a:endParaRPr/>
          </a:p>
        </p:txBody>
      </p:sp>
      <p:sp>
        <p:nvSpPr>
          <p:cNvPr id="209" name="Google Shape;209;p24"/>
          <p:cNvSpPr txBox="1"/>
          <p:nvPr/>
        </p:nvSpPr>
        <p:spPr>
          <a:xfrm>
            <a:off x="580651" y="903000"/>
            <a:ext cx="9418800" cy="86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111827"/>
                </a:solidFill>
              </a:rPr>
              <a:t>Visualize</a:t>
            </a:r>
            <a:r>
              <a:rPr b="1" lang="en-US" sz="2600">
                <a:solidFill>
                  <a:srgbClr val="111827"/>
                </a:solidFill>
              </a:rPr>
              <a:t> Adoption, Growth, Review Quality, Cost and Engagement with 57 Charts</a:t>
            </a:r>
            <a:endParaRPr/>
          </a:p>
        </p:txBody>
      </p:sp>
      <p:sp>
        <p:nvSpPr>
          <p:cNvPr id="210" name="Google Shape;210;p24"/>
          <p:cNvSpPr txBox="1"/>
          <p:nvPr/>
        </p:nvSpPr>
        <p:spPr>
          <a:xfrm>
            <a:off x="611753" y="2190460"/>
            <a:ext cx="3310200" cy="8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A one-click report on how your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organization actually uses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LiveReview, exportable as PDF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or HTML.</a:t>
            </a:r>
            <a:endParaRPr/>
          </a:p>
        </p:txBody>
      </p:sp>
      <p:pic>
        <p:nvPicPr>
          <p:cNvPr id="211" name="Google Shape;211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52544" y="1948285"/>
            <a:ext cx="7272497" cy="35832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logo.png" id="216" name="Google Shape;216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6928" y="38404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5"/>
          <p:cNvSpPr txBox="1"/>
          <p:nvPr/>
        </p:nvSpPr>
        <p:spPr>
          <a:xfrm>
            <a:off x="914400" y="429768"/>
            <a:ext cx="2011680" cy="2970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5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LiveReview</a:t>
            </a:r>
            <a:endParaRPr/>
          </a:p>
        </p:txBody>
      </p:sp>
      <p:sp>
        <p:nvSpPr>
          <p:cNvPr id="218" name="Google Shape;218;p25"/>
          <p:cNvSpPr txBox="1"/>
          <p:nvPr/>
        </p:nvSpPr>
        <p:spPr>
          <a:xfrm>
            <a:off x="604278" y="914110"/>
            <a:ext cx="10515600" cy="6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8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Three problems. One reviewer.</a:t>
            </a:r>
            <a:endParaRPr/>
          </a:p>
        </p:txBody>
      </p:sp>
      <p:sp>
        <p:nvSpPr>
          <p:cNvPr id="219" name="Google Shape;219;p25"/>
          <p:cNvSpPr/>
          <p:nvPr/>
        </p:nvSpPr>
        <p:spPr>
          <a:xfrm>
            <a:off x="566928" y="1833880"/>
            <a:ext cx="3441900" cy="2143200"/>
          </a:xfrm>
          <a:prstGeom prst="roundRect">
            <a:avLst>
              <a:gd fmla="val 4266" name="adj"/>
            </a:avLst>
          </a:prstGeom>
          <a:solidFill>
            <a:srgbClr val="F4F6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5"/>
          <p:cNvSpPr txBox="1"/>
          <p:nvPr/>
        </p:nvSpPr>
        <p:spPr>
          <a:xfrm>
            <a:off x="896112" y="2144776"/>
            <a:ext cx="914400" cy="31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1D56F0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/>
          </a:p>
        </p:txBody>
      </p:sp>
      <p:sp>
        <p:nvSpPr>
          <p:cNvPr id="221" name="Google Shape;221;p25"/>
          <p:cNvSpPr txBox="1"/>
          <p:nvPr/>
        </p:nvSpPr>
        <p:spPr>
          <a:xfrm>
            <a:off x="896112" y="2437384"/>
            <a:ext cx="2783400" cy="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111827"/>
                </a:solidFill>
              </a:rPr>
              <a:t>Capability</a:t>
            </a:r>
            <a:endParaRPr/>
          </a:p>
        </p:txBody>
      </p:sp>
      <p:sp>
        <p:nvSpPr>
          <p:cNvPr id="222" name="Google Shape;222;p25"/>
          <p:cNvSpPr txBox="1"/>
          <p:nvPr/>
        </p:nvSpPr>
        <p:spPr>
          <a:xfrm>
            <a:off x="896112" y="2839720"/>
            <a:ext cx="2783400" cy="6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374151"/>
                </a:solidFill>
              </a:rPr>
              <a:t>Blast-radius scoring and review-depth controls mean the review engine goes as deep as a change actually warrants, not a fixed shallow pass.</a:t>
            </a:r>
            <a:endParaRPr sz="1200"/>
          </a:p>
        </p:txBody>
      </p:sp>
      <p:sp>
        <p:nvSpPr>
          <p:cNvPr id="223" name="Google Shape;223;p25"/>
          <p:cNvSpPr/>
          <p:nvPr/>
        </p:nvSpPr>
        <p:spPr>
          <a:xfrm>
            <a:off x="8318964" y="1833842"/>
            <a:ext cx="3441900" cy="2143200"/>
          </a:xfrm>
          <a:prstGeom prst="roundRect">
            <a:avLst>
              <a:gd fmla="val 4266" name="adj"/>
            </a:avLst>
          </a:prstGeom>
          <a:solidFill>
            <a:srgbClr val="F4F6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5"/>
          <p:cNvSpPr txBox="1"/>
          <p:nvPr/>
        </p:nvSpPr>
        <p:spPr>
          <a:xfrm>
            <a:off x="8648148" y="2144739"/>
            <a:ext cx="914400" cy="31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1D56F0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  <p:sp>
        <p:nvSpPr>
          <p:cNvPr id="225" name="Google Shape;225;p25"/>
          <p:cNvSpPr txBox="1"/>
          <p:nvPr/>
        </p:nvSpPr>
        <p:spPr>
          <a:xfrm>
            <a:off x="8648148" y="2437347"/>
            <a:ext cx="2783400" cy="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900">
                <a:solidFill>
                  <a:srgbClr val="111827"/>
                </a:solidFill>
              </a:rPr>
              <a:t>Cost</a:t>
            </a:r>
            <a:endParaRPr b="1" sz="1900">
              <a:solidFill>
                <a:srgbClr val="111827"/>
              </a:solidFill>
            </a:endParaRPr>
          </a:p>
          <a:p>
            <a:pPr indent="0" lvl="0" marL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900">
              <a:solidFill>
                <a:srgbClr val="111827"/>
              </a:solidFill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solidFill>
                <a:srgbClr val="111827"/>
              </a:solidFill>
            </a:endParaRPr>
          </a:p>
        </p:txBody>
      </p:sp>
      <p:sp>
        <p:nvSpPr>
          <p:cNvPr id="226" name="Google Shape;226;p25"/>
          <p:cNvSpPr txBox="1"/>
          <p:nvPr/>
        </p:nvSpPr>
        <p:spPr>
          <a:xfrm>
            <a:off x="8648150" y="2839675"/>
            <a:ext cx="2981100" cy="8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300">
                <a:solidFill>
                  <a:srgbClr val="374151"/>
                </a:solidFill>
              </a:rPr>
              <a:t>Pay per reviewed LOC, not per seat. Adaptive Reviews' Leader + Helper models cut AI inference cost 40–50% with no drop in review quality.</a:t>
            </a:r>
            <a:endParaRPr sz="1300">
              <a:solidFill>
                <a:srgbClr val="374151"/>
              </a:solidFill>
            </a:endParaRPr>
          </a:p>
        </p:txBody>
      </p:sp>
      <p:sp>
        <p:nvSpPr>
          <p:cNvPr id="227" name="Google Shape;227;p25"/>
          <p:cNvSpPr/>
          <p:nvPr/>
        </p:nvSpPr>
        <p:spPr>
          <a:xfrm>
            <a:off x="4469176" y="1813467"/>
            <a:ext cx="3441900" cy="2143200"/>
          </a:xfrm>
          <a:prstGeom prst="roundRect">
            <a:avLst>
              <a:gd fmla="val 4266" name="adj"/>
            </a:avLst>
          </a:prstGeom>
          <a:solidFill>
            <a:srgbClr val="F4F6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5"/>
          <p:cNvSpPr txBox="1"/>
          <p:nvPr/>
        </p:nvSpPr>
        <p:spPr>
          <a:xfrm>
            <a:off x="4798360" y="2124364"/>
            <a:ext cx="914400" cy="31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1D56F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1" lang="en-US">
                <a:solidFill>
                  <a:srgbClr val="1D56F0"/>
                </a:solidFill>
              </a:rPr>
              <a:t>2</a:t>
            </a:r>
            <a:endParaRPr/>
          </a:p>
        </p:txBody>
      </p:sp>
      <p:sp>
        <p:nvSpPr>
          <p:cNvPr id="229" name="Google Shape;229;p25"/>
          <p:cNvSpPr txBox="1"/>
          <p:nvPr/>
        </p:nvSpPr>
        <p:spPr>
          <a:xfrm>
            <a:off x="4798360" y="2416972"/>
            <a:ext cx="2783400" cy="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111827"/>
                </a:solidFill>
              </a:rPr>
              <a:t>Control</a:t>
            </a:r>
            <a:endParaRPr/>
          </a:p>
        </p:txBody>
      </p:sp>
      <p:sp>
        <p:nvSpPr>
          <p:cNvPr id="230" name="Google Shape;230;p25"/>
          <p:cNvSpPr txBox="1"/>
          <p:nvPr/>
        </p:nvSpPr>
        <p:spPr>
          <a:xfrm>
            <a:off x="4798360" y="2819308"/>
            <a:ext cx="2783400" cy="8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374151"/>
                </a:solidFill>
              </a:rPr>
              <a:t>Repository Rules and CI/CD Gates turn agreed standards into checks that actually block a merge, with every skip logged in the audit trail.</a:t>
            </a:r>
            <a:endParaRPr sz="1100"/>
          </a:p>
        </p:txBody>
      </p:sp>
      <p:pic>
        <p:nvPicPr>
          <p:cNvPr descr="logo.png" id="231" name="Google Shape;231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6928" y="4525645"/>
            <a:ext cx="384049" cy="384049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25"/>
          <p:cNvSpPr txBox="1"/>
          <p:nvPr/>
        </p:nvSpPr>
        <p:spPr>
          <a:xfrm>
            <a:off x="1097277" y="4626225"/>
            <a:ext cx="3474600" cy="34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1D56F0"/>
                </a:solidFill>
                <a:latin typeface="Arial"/>
                <a:ea typeface="Arial"/>
                <a:cs typeface="Arial"/>
                <a:sym typeface="Arial"/>
              </a:rPr>
              <a:t>hexmos.com/livereview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